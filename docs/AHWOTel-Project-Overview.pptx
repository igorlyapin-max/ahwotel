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AHWOTel · Слайд 1 · Материалы от 2026-09-14</a:t>
            </a:r>
          </a:p>
          <a:p>
            <a:r>
              <a:t>Источник содержания: docs/PRESENTATION-AHWOTel.md</a:t>
            </a:r>
          </a:p>
          <a:p/>
          <a:p>
            <a:r>
              <a:t>Цель — идентифицировать состояния и интервалы, когда ресурсы устройства могли ограничивать работу. Техническая деградация сама по себе не доказывает невозможность бизнес-операции и не устанавливает причинность. Возможны проблемы сервера, сети или бизнес-приложения, которые ресурсный агент полностью не наблюдает.</a:t>
            </a:r>
          </a:p>
          <a:p/>
          <a:p>
            <a:r>
              <a:t>В пилоте бизнес-эксперт определяет операцию и критерии успеха, источник подтверждения отказов, календарь и часовой пояс. Отдельно согласуются пороги и минимальная длительность технических состояний. Нынешний APK не измеряет бизнес-операции и не рассчитывает их недоступность по рабочему календарю.</a:t>
            </a:r>
          </a:p>
          <a:p/>
          <a:p>
            <a:r>
              <a:t>Целевая методика: время недоступности — длительность объединения подтверждённых интервалов, пересечённого с рабочими часами. Одновременные причины не удваивают общий простой одного устройства. Техническая деградация считается отдельно. Пропуски наблюдений не приравниваются ни к нормальной работе, ни к простою; показатель покрытия сопровождает итог. Для парка сумма по устройствам выражается в устройстве-минутах.</a:t>
            </a:r>
          </a:p>
          <a:p/>
          <a:p>
            <a:r>
              <a:t>Источники: основное ТЗ [проект: docs/../TZ_Android_Performance_Monitoring.txt], разделы 1, 15, 23, 30; бизнес-методика — согласованное направление пилота.</a:t>
            </a:r>
          </a:p>
          <a:p/>
          <a:p>
            <a:r>
              <a:t>Иллюстрация сгенерирована для презентации: концептуальный образ, не фотография тестового телефона и не снимок интерфейса APK.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AHWOTel · Слайд 2 · Материалы от 2026-09-14</a:t>
            </a:r>
          </a:p>
          <a:p>
            <a:r>
              <a:t>Источник содержания: docs/PRESENTATION-AHWOTel.md</a:t>
            </a:r>
          </a:p>
          <a:p/>
          <a:p>
            <a:r>
              <a:t>Sandbox — изоляция приложений: Android ограничивает доступ к системе и чужим данным. Разрешения диагностической оболочки ADB не равны разрешениям установленного APK. Поэтому проверки выполняются непосредственно из рабочего потока приложения.</a:t>
            </a:r>
          </a:p>
          <a:p/>
          <a:p>
            <a:r>
              <a:t>В AHWOTel есть попытка чтения /proc/stat; при отказе системная загрузка CPU остаётся недоступной. CPU wait отражает ожидание выполнения потока пробы при доступном источнике, а Probe scheduling delay — задержку запуска пробы. Эти показатели публикуются отдельно: их нельзя переименовывать в системный CPU или считать доказательством его перегрузки. Причины задержек могут различаться.</a:t>
            </a:r>
          </a:p>
          <a:p/>
          <a:p>
            <a:r>
              <a:t>Отказ одной метрики не останавливает всю сессию. Диагностика сохраняет источник, статус, причины отказа и использование fallback. Память агента и память устройства также различаются по области измерения. Единицы, ограничения и интерпретация объясняются в EN/RU-подсказках приложения; по умолчанию интерфейс English.</a:t>
            </a:r>
          </a:p>
          <a:p/>
          <a:p>
            <a:r>
              <a:t>Источники: основное ТЗ [проект: docs/../TZ_Android_Performance_Monitoring.txt], разделы 7–14, 24; описание MVP и CPU [проект: docs/../README.md]; Android Application Sandbox — https://source.android.com/docs/security/app-sandbox.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AHWOTel · Слайд 3 · Материалы от 2026-09-14</a:t>
            </a:r>
          </a:p>
          <a:p>
            <a:r>
              <a:t>Источник содержания: docs/PRESENTATION-AHWOTel.md</a:t>
            </a:r>
          </a:p>
          <a:p/>
          <a:p>
            <a:r>
              <a:t>OEM — производитель устройства. Его SDK может давать дополнительные корпоративные интерфейсы. Это не универсальный доступ к системным счётчикам и не обход sandbox. Регистрация в Knox Developer и наличие библиотеки не выдают APK необходимые права автоматически.</a:t>
            </a:r>
          </a:p>
          <a:p/>
          <a:p>
            <a:r>
              <a:t>На тестовом Samsung SM-J260F, Android 8.1, провайдер сообщил API_NOT_SUPPORTED: отсутствовал требуемый публичный getAPILevel(). Для соответствующих значений зафиксированы UNSUPPORTED / METHOD_MISSING. Это результат конкретного адаптера на конкретной модели, а не вывод о всём Samsung-парке. Системный CPU и температура процессора через Knox в текущем MVP не подтверждены.</a:t>
            </a:r>
          </a:p>
          <a:p/>
          <a:p>
            <a:r>
              <a:t>SOTI управляет развёртыванием и политиками; Knox Service Plugin (KSP) применяет поддерживаемые OEM-настройки. Их привилегии не передаются AHWOTel автоматически. Для выбранных методов отдельно проверяются версия, разрешения и лицензирование. Текущий адаптер не поддерживает старое пространство имён Knox 2.x; добавление такой совместимости не запланировано.</a:t>
            </a:r>
          </a:p>
          <a:p/>
          <a:p>
            <a:r>
              <a:t>Источники: OEM/Knox ТЗ [проект: docs/../android_oem_extended_telemetry_knox_mvp_TZ.txt]; контракт OEM [проект: docs/oem-telemetry.md]; проверка Knox из APK [проект: docs/VALIDATION-OEM-code6.md]; Samsung: лицензии Knox SDK — https://docs.samsungknox.com/dev/knox-sdk/introduction/about-licenses/.</a:t>
            </a:r>
          </a:p>
          <a:p/>
          <a:p>
            <a:r>
              <a:t>Иллюстрация сгенерирована для презентации: концептуальный образ, не фотография тестового телефона и не снимок интерфейса APK.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AHWOTel · Слайд 4 · Материалы от 2026-09-14</a:t>
            </a:r>
          </a:p>
          <a:p>
            <a:r>
              <a:t>Источник содержания: docs/PRESENTATION-AHWOTel.md</a:t>
            </a:r>
          </a:p>
          <a:p/>
          <a:p>
            <a:r>
              <a:t>Self Telemetry — наблюдение приложения за собственным потреблением и операциями. Интервалы сбора и отправки настраиваются независимо; медленно меняющиеся сведения не требуют постоянного частого опроса. Режим диагностики управляется настройками: Off по умолчанию, Basic и временный Verbose. Структурированные логи поступают в stdout/stderr, Android Logcat и при включении в ротируемый JSONL; чувствительные данные не должны попадать в диагностику.</a:t>
            </a:r>
          </a:p>
          <a:p/>
          <a:p>
            <a:r>
              <a:t>Батарейные ток и счётчик заряда относятся ко всему устройству. Разряд зависит также от экрана, сети, других приложений и состояния аккумулятора. Влияние агента оценивается сравнением режимов и совокупностью признаков; прямое измерение его энергопотребления в mAh не заявляется. Измерение собственной стоимости Self Telemetry не должно порождать рекурсивные события.</a:t>
            </a:r>
          </a:p>
          <a:p/>
          <a:p>
            <a:r>
              <a:t>Ориентир ТЗ: Self Telemetry — менее 5% общей нагрузки самого агента. Это целевой бюджет, а не подтверждённое достижение и не допустимая доля ресурсов всего телефона. Способ сравнения и условия измерения фиксируются в пилоте. Серверное сравнение версий, регрессионные оповещения и Battery Impact Score ещё не являются готовой витриной.</a:t>
            </a:r>
          </a:p>
          <a:p/>
          <a:p>
            <a:r>
              <a:t>Источники: Self Telemetry ТЗ [проект: docs/../self_telemetry_android_TZ.txt], разделы 10–12, 20, 25–30, 35; контракт Battery/Self [проект: docs/battery-self-telemetry.md]; результаты Samsung [проект: docs/VALIDATION-samsung-code11.md].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AHWOTel · Слайд 5 · Материалы от 2026-09-14</a:t>
            </a:r>
          </a:p>
          <a:p>
            <a:r>
              <a:t>Источник содержания: docs/PRESENTATION-AHWOTel.md</a:t>
            </a:r>
          </a:p>
          <a:p/>
          <a:p>
            <a:r>
              <a:t>OpenTelemetry поддерживает разные сигналы, но это не означает, что текущий APK отправляет все их виды. Основной экспорт AHWOTel — метрики. SDK формирует данные, OTLP переносит их, Collector принимает и обрабатывает, Prometheus хранит метрики, Grafana показывает результат. OTLP существует поверх HTTP и gRPC; наш вариант — HTTP, а не gRPC.</a:t>
            </a:r>
          </a:p>
          <a:p/>
          <a:p>
            <a:r>
              <a:t>В Collector receivers принимают данные, processors фильтруют, преобразуют или группируют их, exporters передают дальше. Служебные extensions, например аутентификация, подключаются отдельно; конкретный набор зависит от сборки Collector. Сборщики внутри APK — самостоятельный слой и не являются серверными плагинами. Для выбранного OTLP-пути custom receiver не требуется.</a:t>
            </a:r>
          </a:p>
          <a:p/>
          <a:p>
            <a:r>
              <a:t>Сейчас APK работает автономно: история по умолчанию 14 дней, есть ограничение хранилища, графики, экспорт и опциональная очередь отправки. При отключённом OTLP внешний сервер для локального режима не нужен. При потере сети очередь сохраняется в заданных пределах; переполнение и истечение срока означают возможную потерю старых данных, а не бесконечное хранение.</a:t>
            </a:r>
          </a:p>
          <a:p/>
          <a:p>
            <a:r>
              <a:t>На Samsung проверен сценарий с локальным HTTPS mock server: 1000 пакетов, 100 ответов HTTP 503, повторы, ограничение числа задач, смена endpoint и отключение экспорта. Это не доказательство приёма корректных метрик реальным Collector и отображения в Grafana. Такое сквозное подтверждение входит в следующий этап. Основной вариант стенда — Prometheus + Grafana; VictoriaMetrics остаётся альтернативой хранения при отдельном выборе.</a:t>
            </a:r>
          </a:p>
          <a:p/>
          <a:p>
            <a:r>
              <a:t>Источники: основное ТЗ [проект: docs/../TZ_Android_Performance_Monitoring.txt], разделы 3, 16–19, 23; результаты OTLP-теста [проект: docs/VALIDATION-samsung-code11.md]; What is OpenTelemetry — https://opentelemetry.io/docs/what-is-opentelemetry/, OTLP — https://opentelemetry.io/docs/specs/otlp/, компоненты и конфигурация Collector — https://opentelemetry.io/docs/collector/configuration/.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AHWOTel · Слайд 6 · Материалы от 2026-09-14</a:t>
            </a:r>
          </a:p>
          <a:p>
            <a:r>
              <a:t>Источник содержания: docs/PRESENTATION-AHWOTel.md</a:t>
            </a:r>
          </a:p>
          <a:p/>
          <a:p>
            <a:r>
              <a:t>Аутентификация отвечает на вопрос «кто отправитель», авторизация — «какие данные ему разрешено публиковать». Проверка сертификата сервера без удостоверения клиента не решает вторую задачу. IP непригоден как стабильная identity мобильного устройства; корпоративный device.id связывается с учётной записью SOTI.</a:t>
            </a:r>
          </a:p>
          <a:p/>
          <a:p>
            <a:r>
              <a:t>По ТЗ при первом запуске создаётся ключ в Android Keystore и запрос сертификата. PKI — инфраструктура выпуска и управления сертификатами. Одноразовый bootstrap credential доставляется через SOTI, ограничивается временем и устройством, после регистрации не используется повторно. Нужны обновление и отзыв доступа конкретного устройства. Доступ APK к ключам, распространённым SOTI, нельзя предполагать без отдельного PoC.</a:t>
            </a:r>
          </a:p>
          <a:p/>
          <a:p>
            <a:r>
              <a:t>Альтернатива — короткоживущий JWT с идентификатором устройства, адресатом и сроком действия. Выдачу токена и доверенную проверку нужно построить отдельно; включение готового authentication extension само по себе не создаёт этот контур. Доступ пользователей к Grafana — отдельная авторизация, не заменяющая аутентификацию APK.</a:t>
            </a:r>
          </a:p>
          <a:p/>
          <a:p>
            <a:r>
              <a:t>В текущем MVP реализованы HTTPS и проверка сертификата сервера; mTLS, enrollment и JWT-аутентификация устройства отсутствуют. Также предстоит проверить авторизацию команд SOTI. Ни лицензионные ключи Knox, ни bootstrap/token/private key не передаются в телеметрии и логах.</a:t>
            </a:r>
          </a:p>
          <a:p/>
          <a:p>
            <a:r>
              <a:t>Источники: основное ТЗ [проект: docs/../TZ_Android_Performance_Monitoring.txt], разделы 6, 18, 25–28; ограничения MVP [проект: docs/../README.md]; Collector Authentication — https://opentelemetry.io/docs/collector/configuration/#authentication.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AHWOTel · Слайд 7 · Материалы от 2026-09-14</a:t>
            </a:r>
          </a:p>
          <a:p>
            <a:r>
              <a:t>Источник содержания: docs/PRESENTATION-AHWOTel.md</a:t>
            </a:r>
          </a:p>
          <a:p/>
          <a:p>
            <a:r>
              <a:t>Три ТЗ охватывают разные области:</a:t>
            </a:r>
          </a:p>
          <a:p/>
          <a:p>
            <a:r>
              <a:t>1. TZ_Android_Performance_Monitoring.txt [проект: docs/../TZ_Android_Performance_Monitoring.txt] — ресурсы и состояния устройства, сессии, SOTI, OTLP и безопасность.</a:t>
            </a:r>
          </a:p>
          <a:p>
            <a:r>
              <a:t>2. android_oem_extended_telemetry_knox_mvp_TZ.txt [проект: docs/../android_oem_extended_telemetry_knox_mvp_TZ.txt] — OEM-провайдеры, Samsung Knox, права, политики и расширенная телеметрия.</a:t>
            </a:r>
          </a:p>
          <a:p>
            <a:r>
              <a:t>3. self_telemetry_android_TZ.txt [проект: docs/../self_telemetry_android_TZ.txt] — стоимость самого агента, сравнение конфигураций и версий.</a:t>
            </a:r>
          </a:p>
          <a:p/>
          <a:p>
            <a:r>
              <a:t>Точные времена Git: 9bfecfb — 2026-09-13 07:30:31 +03:00; 5a8710d — 14:01:39; beaf486 — 20:42:51. Первый коммит содержит только LICENSE. Основное ТЗ впервые зафиксировано в 14:01, OEM и Self — в 20:42. Хронология подготовки трёх ТЗ в 07:30 основана на словах автора; Git не подтверждает время их создания. Время коммита показывает фиксацию результата, а не начало или длительность каждой работы.</a:t>
            </a:r>
          </a:p>
          <a:p/>
          <a:p>
            <a:r>
              <a:t>Первая функциональная поставка — 00.00.00.01; вторая — 00.00.00.02, Android versionCode=11. Второй коммит включает managed configuration, независимые настройки и историю Battery/Self, графики с осями, исправления применения таймера, агрегации, полноты истории, навигации, экспорта и планирования OTLP.</a:t>
            </a:r>
          </a:p>
          <a:p/>
          <a:p>
            <a:r>
              <a:t>20 native-сценариев — число отдельных успешно проверенных сценариев на Samsung с учётом повторов, а не один полностью успешный общий прогон. Сетевой тест с локальным HTTPS mock server прошёл за 36,616 секунды. Установка APK и результаты после коммита не выдаются за доказанные самим Git push. Полный корпоративный контур остаётся задачей пилота; лицензированный Knox, реальный SOTI и внешний Collector не подтверждены этим набором проверок.</a:t>
            </a:r>
          </a:p>
          <a:p/>
          <a:p>
            <a:r>
              <a:t>Практический урок: после синхронизации даты телефона с 2018 на 2026 год старые записи удалились по сроку хранения. Это произошло до повторного OTLP-теста; резервные копии остались на компьютере. Проверка времени и поведения retention входит в программу пилота. Быстрая разработка не отменяет испытаний на реальных устройствах.</a:t>
            </a:r>
          </a:p>
          <a:p/>
          <a:p>
            <a:r>
              <a:t>Источники: Git log/show для трёх коммитов; состав первой поставки [проект: docs/VALIDATION-00.00.00.01.md], второй поставки [проект: docs/VALIDATION-00.00.00.02.md], последующие проверки Samsung [проект: docs/VALIDATION-samsung-code11.md]; хронология подготовки — автор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AHWOTel · Слайд 8 · Материалы от 2026-09-14</a:t>
            </a:r>
          </a:p>
          <a:p>
            <a:r>
              <a:t>Источник содержания: docs/PRESENTATION-AHWOTel.md</a:t>
            </a:r>
          </a:p>
          <a:p/>
          <a:p>
            <a:r>
              <a:t>Для Knox: зарегистрироваться в портале разработчика, выбрать модель и версии, сопоставить требуемые API с правами и лицензиями, затем проверить их реальными вызовами AHWOTel. Для устройства под SOTI подтвердить применимый Android Enterprise enrollment и способ запуска команд. Наличие Fully Managed или KSP само по себе не доказывает доступ к getters из нашего APK.</a:t>
            </a:r>
          </a:p>
          <a:p/>
          <a:p>
            <a:r>
              <a:t>Для Google развести способы распространения. Google Play Console относится к публикации через Google Play; для распространения вне Play предусмотрена Android Developer Console. Private apps на управляемых Android Enterprise устройствах сейчас освобождены от Android developer verification. Поэтому платную регистрацию или публикацию в Play не считать обязательной предпосылкой установки через SOTI. До оформления аккаунта проверить маршрут поставки и требования к разрешениям текущего APK, включая инвентаризацию приложений. Политики могут меняться; сведения сверены по документации Google при подготовке материала.</a:t>
            </a:r>
          </a:p>
          <a:p/>
          <a:p>
            <a:r>
              <a:t>Для стенда: проверить выбранную аутентификацию устройства и сопоставление device.id, настроить Collector и хранение в Prometheus, построить Grafana-витрины ресурсов, доступности источников и Self Telemetry. Разрезы: устройство, модель, Android, версия агента, профиль и сессия. Серверная витрина бизнес-недоступности появляется после согласования методики и источника бизнес-событий.</a:t>
            </a:r>
          </a:p>
          <a:p/>
          <a:p>
            <a:r>
              <a:t>Критерий технической приёмки: оператор через SOTI запускает диагностическую сессию, в Grafana появляются метрики с корректными identity и временем; агент сохраняет ограниченную очередь при отключении сети, отправляет после восстановления и завершает сессию по timeout. Отказ отдельного источника виден оператору и не останавливает остальные сборщики. Отдельные проверки: отзыв доступа одного устройства, влияние частоты измерений, screen-off, скачок часов, границы срока хранения и восстановление из резервной копии. История на телефоне ограничена и не заменяет серверное хранение.</a:t>
            </a:r>
          </a:p>
          <a:p/>
          <a:p>
            <a:r>
              <a:t>До эксплуатации нужно отдельно спроектировать сроки хранения и резервирование данных/конфигурации стенда, восстановление PKI и доступов. Эти вопросы не представляются уже решённой отказоустойчивой архитектурой.</a:t>
            </a:r>
          </a:p>
          <a:p/>
          <a:p>
            <a:r>
              <a:t>Источники: основное ТЗ [проект: docs/../TZ_Android_Performance_Monitoring.txt], разделы 29–31; OEM/Knox и Self Telemetry ТЗ; Samsung: получение лицензии — https://docs.samsungknox.com/dev/knox-sdk/get-started/get-a-license/; Google: private apps и developer verification — https://support.google.com/work/android/answer/17266330?hl=en, Android developer verification FAQ — https://developer.android.com/developer-verification/guides/faq.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AHWOTel · Слайд 9 · Материалы от 2026-09-14</a:t>
            </a:r>
          </a:p>
          <a:p>
            <a:r>
              <a:t>Источник содержания: docs/PRESENTATION-AHWOTel.md</a:t>
            </a:r>
          </a:p>
          <a:p/>
          <a:p>
            <a:r>
              <a:t>Что измерено. В настройке status line включены used-tokens, total-input-tokens, total-output-tokens и недельный лимит. Для отчёта прочитаны соответствующие накопительные поля total_token_usage и rate_limits из локальных событий token_count, а не результат /caveman-stats. Зафиксирован снимок на 2026-09-14 08:17:15 МСК. Позднейшая работа над этим слайдом в него не входит.</a:t>
            </a:r>
          </a:p>
          <a:p/>
          <a:p>
            <a:r>
              <a:t>| Счётчик | Основная сессия | Семь агентов review | Всего |</a:t>
            </a:r>
          </a:p>
          <a:p>
            <a:r>
              <a:t>| --- | ---: | ---: | ---: |</a:t>
            </a:r>
          </a:p>
          <a:p>
            <a:r>
              <a:t>| Входные токены (input_tokens) | 187 957 681 | 11 451 206 | 199 408 887 |</a:t>
            </a:r>
          </a:p>
          <a:p>
            <a:r>
              <a:t>| Из них вход из кэша (cached_input_tokens) | 182 512 384 | 10 581 888 | 193 094 272 |</a:t>
            </a:r>
          </a:p>
          <a:p>
            <a:r>
              <a:t>| Выходные токены (output_tokens) | 956 023 | 50 819 | 1 006 842 |</a:t>
            </a:r>
          </a:p>
          <a:p>
            <a:r>
              <a:t>| Всего (total_tokens) | 188 913 704 | 11 502 025 | 200 415 729 |</a:t>
            </a:r>
          </a:p>
          <a:p/>
          <a:p>
            <a:r>
              <a:t>Токен — единица текста, обрабатываемая моделью, не строка кода и не отдельный пользовательский запрос. Вход включает многократно передаваемый контекст, инструкции и результаты инструментов. Поэтому 200,4 млн не означают столько уникального текста или нового кода. Некэшированный вход — 6 314 615 токенов; кэш уже включён во вход и повторно не прибавляется. Reasoning-токены, 418 627 по сумме журналов, являются частью выхода и тоже не прибавляются ещё раз.</a:t>
            </a:r>
          </a:p>
          <a:p/>
          <a:p>
            <a:r>
              <a:t>Взято последнее накопительное значение каждого из восьми журналов на момент снимка; события token_count между собой не суммировались. Проверено, что каждый журнал начинает счёт с собственного первого запроса, сбросов нет, а прирост счётчика соответствует последнему запросу. Повторное чтение контекста разными агентами является реально зарегистрированным входом; это не число уникальных токенов. Снимок содержит разработку, проверки и подготовку презентации в данной сессии. Подготовка ТЗ в других чатах/инструментах и иная незафиксированная работа не учтены. Обезличенные числовые данные и методика сохранены в снимке расхода [проект: docs/PRESENTATION-USAGE-2026-09-14.json].</a:t>
            </a:r>
          </a:p>
          <a:p/>
          <a:p>
            <a:r>
              <a:t>Время человека. Автор оценил активное участие в 1–2 часа, без ожидания агента. Раскладка ниже иллюстративная: общий диапазон подтверждён автором, отдельные этапы секундомером не измерялись.</a:t>
            </a:r>
          </a:p>
          <a:p/>
          <a:p>
            <a:r>
              <a:t>| Этап | Ориентировочно |</a:t>
            </a:r>
          </a:p>
          <a:p>
            <a:r>
              <a:t>| --- | ---: |</a:t>
            </a:r>
          </a:p>
          <a:p>
            <a:r>
              <a:t>| Подготовка и уточнение трёх ТЗ | 20–40 минут |</a:t>
            </a:r>
          </a:p>
          <a:p>
            <a:r>
              <a:t>| Чтение планов/review, уточнение приоритетов | 20–40 минут |</a:t>
            </a:r>
          </a:p>
          <a:p>
            <a:r>
              <a:t>| Разрешение следующих шагов и короткие решения | 10–20 минут |</a:t>
            </a:r>
          </a:p>
          <a:p>
            <a:r>
              <a:t>| Проверки телефона, USB/Wi-Fi и обратная связь | 10–20 минут |</a:t>
            </a:r>
          </a:p>
          <a:p>
            <a:r>
              <a:t>| Всего активного участия | 60–120 минут |</a:t>
            </a:r>
          </a:p>
          <a:p/>
          <a:p>
            <a:r>
              <a:t>В основной сессии к снимку зафиксированы 49 пользовательских сообщений без служебных вставок, включая 10 явных запусков планов и 3 запроса review. Это подтверждает участие автора, но не измеряет длительность его работы и не учитывает каждое разрешение CLI. Календарная длительность разработки с ожиданием сборок, проверок и переподключением телефона существенно больше активного времени человека. Пятничные консультации отдельно не хронометрировались и к этой разбивке автоматически не прибавляются.</a:t>
            </a:r>
          </a:p>
          <a:p/>
          <a:p>
            <a:r>
              <a:t>Деньги. Принята указанная автором цена подписки $200 в месяц. На снимке plan_type=pro, недельное окно — 10 080 минут, used_percent=50. Распределение месячной платы пропорционально доле недели даёт:</a:t>
            </a:r>
          </a:p>
          <a:p/>
          <a:p>
            <a:r>
              <a:t>text</a:t>
            </a:r>
          </a:p>
          <a:p>
            <a:r>
              <a:t>По среднему числу недель: $200 × 12 / 52 × 50% ≈ $23,08.</a:t>
            </a:r>
          </a:p>
          <a:p>
            <a:r>
              <a:t>При упрощении до четырёх недель в месяце: $200 / 4 × 50% = $25.</a:t>
            </a:r>
          </a:p>
          <a:p/>
          <a:p/>
          <a:p>
            <a:r>
              <a:t>Недельный лимит — ограничение использования, а не кошелёк с фиксированной ценой токена. Подписка оплачивается целиком; $23–25 — условная управленческая оценка доли, отнесённой на проект, а не дополнительный платёж. Отнесение 50% к проекту дано автором: статус показывает общий расход учётной записи и сам по себе не исключает другие задачи. Цена Pro включает и другие возможности подписки. Прямой пересчёт этих токенов в API-стоимость здесь не выполняется: это другая модель оплаты. Стоимость труда человека, налоги, оборудование и эксплуатация стенда в $23–25 не включены.</a:t>
            </a:r>
          </a:p>
          <a:p/>
          <a:p>
            <a:r>
              <a:t>Источники: зафиксированные счётчики Codex и расчёт [проект: docs/PRESENTATION-USAGE-2026-09-14.json]; оценка автора «около 1–2 часов»; OpenAI: подписки и лимиты Codex — https://learn.chatgpt.com/docs/pricing; OpenAI: status line и команды статуса — https://learn.chatgpt.com/docs/developer-commands?surface=cli. Данные подписки и ограничения проверены при подготовке слайда 2026-09-14.</a:t>
            </a:r>
          </a:p>
          <a:p/>
          <a:p>
            <a:r>
              <a:t>Затраты зафиксированы до создания PPTX и генерации иллюстраций; эти последующие операции в снимок не включены.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292608" cy="50292"/>
          </a:xfrm>
          <a:prstGeom prst="rect">
            <a:avLst/>
          </a:prstGeom>
          <a:solidFill>
            <a:srgbClr val="00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20040"/>
            <a:ext cx="8503920" cy="2651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60768A"/>
                </a:solidFill>
                <a:latin typeface="Noto Sans"/>
              </a:defRPr>
            </a:pPr>
            <a:r>
              <a:t>AHWOTel  /  ЦЕЛЬ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6583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102B46"/>
                </a:solidFill>
                <a:latin typeface="Noto Sans"/>
              </a:defRPr>
            </a:pPr>
            <a:r>
              <a:t>Когда устройство мешает работе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301752"/>
            <a:ext cx="2542032" cy="283464"/>
          </a:xfrm>
          <a:prstGeom prst="roundRect">
            <a:avLst>
              <a:gd name="adj" fmla="val 12000"/>
            </a:avLst>
          </a:prstGeom>
          <a:solidFill>
            <a:srgbClr val="E7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08008" y="327355"/>
            <a:ext cx="2414015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50" b="1">
                <a:solidFill>
                  <a:srgbClr val="2369DC"/>
                </a:solidFill>
                <a:latin typeface="Noto Sans"/>
              </a:defRPr>
            </a:pPr>
            <a:r>
              <a:t>ЦЕЛЕВАЯ МЕТОДИКА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7620">
            <a:solidFill>
              <a:srgbClr val="DCE4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37960"/>
            <a:ext cx="7223760" cy="19202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60768A"/>
                </a:solidFill>
                <a:latin typeface="Noto Sans"/>
              </a:defRPr>
            </a:pPr>
            <a:r>
              <a:t>AHWOTel  ·  прототип → управляемый пилот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37960"/>
            <a:ext cx="1325880" cy="19202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60768A"/>
                </a:solidFill>
                <a:latin typeface="Noto Sans"/>
              </a:defRPr>
            </a:pPr>
            <a:r>
              <a:t>14.09.2026</a:t>
            </a:r>
          </a:p>
        </p:txBody>
      </p:sp>
      <p:sp>
        <p:nvSpPr>
          <p:cNvPr id="10" name="Oval 9"/>
          <p:cNvSpPr/>
          <p:nvPr/>
        </p:nvSpPr>
        <p:spPr>
          <a:xfrm>
            <a:off x="11292840" y="6510528"/>
            <a:ext cx="256032" cy="256032"/>
          </a:xfrm>
          <a:prstGeom prst="ellipse">
            <a:avLst/>
          </a:prstGeom>
          <a:solidFill>
            <a:srgbClr val="10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Noto Sans"/>
              </a:defRPr>
            </a:pPr>
            <a:r>
              <a:t>01</a:t>
            </a:r>
          </a:p>
        </p:txBody>
      </p:sp>
      <p:pic>
        <p:nvPicPr>
          <p:cNvPr id="11" name="Picture 10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032" y="1600200"/>
            <a:ext cx="5669280" cy="31912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0352" y="1783080"/>
            <a:ext cx="5687568" cy="84124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102B46"/>
                </a:solidFill>
                <a:latin typeface="Noto Sans"/>
              </a:defRPr>
            </a:pPr>
            <a:r>
              <a:t>От технических признаков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102B46"/>
                </a:solidFill>
                <a:latin typeface="Noto Sans"/>
              </a:defRPr>
            </a:pPr>
            <a:r>
              <a:t>к потерянному рабочему времени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79776"/>
            <a:ext cx="530352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60768A"/>
                </a:solidFill>
                <a:latin typeface="Noto Sans"/>
              </a:defRPr>
            </a:pPr>
            <a:r>
              <a:t>Отдельный Android-агент.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60768A"/>
                </a:solidFill>
                <a:latin typeface="Noto Sans"/>
              </a:defRPr>
            </a:pPr>
            <a:r>
              <a:t>Бизнес-приложение остаётся без изменений.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5257800" cy="283464"/>
          </a:xfrm>
          <a:prstGeom prst="roundRect">
            <a:avLst>
              <a:gd name="adj" fmla="val 12000"/>
            </a:avLst>
          </a:prstGeom>
          <a:solidFill>
            <a:srgbClr val="FF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7" y="3683203"/>
            <a:ext cx="512978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50" b="1">
                <a:solidFill>
                  <a:srgbClr val="B77814"/>
                </a:solidFill>
                <a:latin typeface="Noto Sans"/>
              </a:defRPr>
            </a:pPr>
            <a:r>
              <a:t>БИЗНЕС: операция не выполнена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59936"/>
            <a:ext cx="5257800" cy="283464"/>
          </a:xfrm>
          <a:prstGeom prst="roundRect">
            <a:avLst>
              <a:gd name="adj" fmla="val 12000"/>
            </a:avLst>
          </a:prstGeom>
          <a:solidFill>
            <a:srgbClr val="E7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7" y="4085539"/>
            <a:ext cx="512978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50" b="1">
                <a:solidFill>
                  <a:srgbClr val="2369DC"/>
                </a:solidFill>
                <a:latin typeface="Noto Sans"/>
              </a:defRPr>
            </a:pPr>
            <a:r>
              <a:t>ТЕХНИКА: ресурсы ограничивают работу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919472"/>
            <a:ext cx="11183112" cy="1335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5056632"/>
            <a:ext cx="2944368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60768A"/>
                </a:solidFill>
                <a:latin typeface="Noto Sans"/>
              </a:defRPr>
            </a:pPr>
            <a:r>
              <a:t>ИНТЕРВАЛЫ В РАБОЧИЕ ЧАСЫ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67528"/>
            <a:ext cx="283464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0768A"/>
                </a:solidFill>
                <a:latin typeface="Noto Sans"/>
              </a:defRPr>
            </a:pPr>
            <a:r>
              <a:t>Рабочее окно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5385816"/>
            <a:ext cx="6949440" cy="105156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0" y="5385816"/>
            <a:ext cx="6949440" cy="105156"/>
          </a:xfrm>
          <a:prstGeom prst="rect">
            <a:avLst/>
          </a:prstGeom>
          <a:solidFill>
            <a:srgbClr val="E7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600700"/>
            <a:ext cx="283464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0768A"/>
                </a:solidFill>
                <a:latin typeface="Noto Sans"/>
              </a:defRPr>
            </a:pPr>
            <a:r>
              <a:t>Техническая деградация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5618988"/>
            <a:ext cx="6949440" cy="105156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77993" y="5618988"/>
            <a:ext cx="2154326" cy="105156"/>
          </a:xfrm>
          <a:prstGeom prst="rect">
            <a:avLst/>
          </a:prstGeom>
          <a:solidFill>
            <a:srgbClr val="B77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52713" y="5618988"/>
            <a:ext cx="1389888" cy="105156"/>
          </a:xfrm>
          <a:prstGeom prst="rect">
            <a:avLst/>
          </a:prstGeom>
          <a:solidFill>
            <a:srgbClr val="B77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833872"/>
            <a:ext cx="283464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0768A"/>
                </a:solidFill>
                <a:latin typeface="Noto Sans"/>
              </a:defRPr>
            </a:pPr>
            <a:r>
              <a:t>Подтверждённый простой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5852159"/>
            <a:ext cx="6949440" cy="105156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64454" y="5852159"/>
            <a:ext cx="1250899" cy="105156"/>
          </a:xfrm>
          <a:prstGeom prst="rect">
            <a:avLst/>
          </a:prstGeom>
          <a:solidFill>
            <a:srgbClr val="C64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30691" y="5852159"/>
            <a:ext cx="625449" cy="105156"/>
          </a:xfrm>
          <a:prstGeom prst="rect">
            <a:avLst/>
          </a:prstGeom>
          <a:solidFill>
            <a:srgbClr val="C64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71048" y="5349240"/>
            <a:ext cx="749808" cy="6858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60768A"/>
                </a:solidFill>
                <a:latin typeface="Noto Sans"/>
              </a:defRPr>
            </a:pPr>
            <a:r>
              <a:t>Схема, не замеры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292608" cy="50292"/>
          </a:xfrm>
          <a:prstGeom prst="rect">
            <a:avLst/>
          </a:prstGeom>
          <a:solidFill>
            <a:srgbClr val="00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20040"/>
            <a:ext cx="8503920" cy="2651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60768A"/>
                </a:solidFill>
                <a:latin typeface="Noto Sans"/>
              </a:defRPr>
            </a:pPr>
            <a:r>
              <a:t>AHWOTel  /  ИСТОЧНИКИ ANDROID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6583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102B46"/>
                </a:solidFill>
                <a:latin typeface="Noto Sans"/>
              </a:defRPr>
            </a:pPr>
            <a:r>
              <a:t>Не каждый показатель доступен любому APK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463040"/>
            <a:ext cx="10972800" cy="4297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60768A"/>
                </a:solidFill>
                <a:latin typeface="Noto Sans"/>
              </a:defRPr>
            </a:pPr>
            <a:r>
              <a:t>Sandbox, версия Android, прошивка и права определяют границы измерений.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301752"/>
            <a:ext cx="2542032" cy="283464"/>
          </a:xfrm>
          <a:prstGeom prst="roundRect">
            <a:avLst>
              <a:gd name="adj" fmla="val 12000"/>
            </a:avLst>
          </a:prstGeom>
          <a:solidFill>
            <a:srgbClr val="E7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8" y="327355"/>
            <a:ext cx="2414015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50" b="1">
                <a:solidFill>
                  <a:srgbClr val="2369DC"/>
                </a:solidFill>
                <a:latin typeface="Noto Sans"/>
              </a:defRPr>
            </a:pPr>
            <a:r>
              <a:t>РЕАЛИЗОВАНО В APK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7620">
            <a:solidFill>
              <a:srgbClr val="DCE4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6537960"/>
            <a:ext cx="7223760" cy="19202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60768A"/>
                </a:solidFill>
                <a:latin typeface="Noto Sans"/>
              </a:defRPr>
            </a:pPr>
            <a:r>
              <a:t>AHWOTel  ·  прототип → управляемый пилот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537960"/>
            <a:ext cx="1325880" cy="19202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60768A"/>
                </a:solidFill>
                <a:latin typeface="Noto Sans"/>
              </a:defRPr>
            </a:pPr>
            <a:r>
              <a:t>14.09.2026</a:t>
            </a:r>
          </a:p>
        </p:txBody>
      </p:sp>
      <p:sp>
        <p:nvSpPr>
          <p:cNvPr id="11" name="Oval 10"/>
          <p:cNvSpPr/>
          <p:nvPr/>
        </p:nvSpPr>
        <p:spPr>
          <a:xfrm>
            <a:off x="11292840" y="6510528"/>
            <a:ext cx="256032" cy="256032"/>
          </a:xfrm>
          <a:prstGeom prst="ellipse">
            <a:avLst/>
          </a:prstGeom>
          <a:solidFill>
            <a:srgbClr val="10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48840"/>
            <a:ext cx="2075688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5403" y="2497043"/>
            <a:ext cx="327720" cy="327720"/>
          </a:xfrm>
          <a:prstGeom prst="rect">
            <a:avLst/>
          </a:prstGeom>
          <a:solidFill>
            <a:srgbClr val="FFFFFF"/>
          </a:solidFill>
          <a:ln w="22860">
            <a:solidFill>
              <a:srgbClr val="23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866851" y="2404872"/>
            <a:ext cx="0" cy="92171"/>
          </a:xfrm>
          <a:prstGeom prst="line">
            <a:avLst/>
          </a:prstGeom>
          <a:ln w="2286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66851" y="2824764"/>
            <a:ext cx="0" cy="92172"/>
          </a:xfrm>
          <a:prstGeom prst="line">
            <a:avLst/>
          </a:prstGeom>
          <a:ln w="2286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13232" y="2558491"/>
            <a:ext cx="92171" cy="0"/>
          </a:xfrm>
          <a:prstGeom prst="line">
            <a:avLst/>
          </a:prstGeom>
          <a:ln w="2286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33124" y="2558491"/>
            <a:ext cx="92172" cy="0"/>
          </a:xfrm>
          <a:prstGeom prst="line">
            <a:avLst/>
          </a:prstGeom>
          <a:ln w="2286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9264" y="2404872"/>
            <a:ext cx="0" cy="92171"/>
          </a:xfrm>
          <a:prstGeom prst="line">
            <a:avLst/>
          </a:prstGeom>
          <a:ln w="2286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9264" y="2824764"/>
            <a:ext cx="0" cy="92172"/>
          </a:xfrm>
          <a:prstGeom prst="line">
            <a:avLst/>
          </a:prstGeom>
          <a:ln w="2286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13232" y="2660904"/>
            <a:ext cx="92171" cy="0"/>
          </a:xfrm>
          <a:prstGeom prst="line">
            <a:avLst/>
          </a:prstGeom>
          <a:ln w="2286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33124" y="2660904"/>
            <a:ext cx="92172" cy="0"/>
          </a:xfrm>
          <a:prstGeom prst="line">
            <a:avLst/>
          </a:prstGeom>
          <a:ln w="2286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71676" y="2404872"/>
            <a:ext cx="0" cy="92171"/>
          </a:xfrm>
          <a:prstGeom prst="line">
            <a:avLst/>
          </a:prstGeom>
          <a:ln w="2286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71676" y="2824764"/>
            <a:ext cx="0" cy="92172"/>
          </a:xfrm>
          <a:prstGeom prst="line">
            <a:avLst/>
          </a:prstGeom>
          <a:ln w="2286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13232" y="2763316"/>
            <a:ext cx="92171" cy="0"/>
          </a:xfrm>
          <a:prstGeom prst="line">
            <a:avLst/>
          </a:prstGeom>
          <a:ln w="2286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33124" y="2763316"/>
            <a:ext cx="92172" cy="0"/>
          </a:xfrm>
          <a:prstGeom prst="line">
            <a:avLst/>
          </a:prstGeom>
          <a:ln w="2286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77092" y="2573853"/>
            <a:ext cx="0" cy="174101"/>
          </a:xfrm>
          <a:prstGeom prst="line">
            <a:avLst/>
          </a:prstGeom>
          <a:ln w="2286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69264" y="2573853"/>
            <a:ext cx="0" cy="174101"/>
          </a:xfrm>
          <a:prstGeom prst="line">
            <a:avLst/>
          </a:prstGeom>
          <a:ln w="2286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1435" y="2573853"/>
            <a:ext cx="0" cy="174101"/>
          </a:xfrm>
          <a:prstGeom prst="line">
            <a:avLst/>
          </a:prstGeom>
          <a:ln w="2286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04088" y="3090672"/>
            <a:ext cx="1719072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02B46"/>
                </a:solidFill>
                <a:latin typeface="Noto Sans"/>
              </a:defRPr>
            </a:pPr>
            <a:r>
              <a:t>Память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3648456"/>
            <a:ext cx="1719072" cy="61264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223D56"/>
                </a:solidFill>
                <a:latin typeface="Noto Sans"/>
              </a:defRPr>
            </a:pPr>
            <a:r>
              <a:t>RAM и low memory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4425696"/>
            <a:ext cx="170078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60768A"/>
                </a:solidFill>
                <a:latin typeface="Noto Sans"/>
              </a:defRPr>
            </a:pPr>
            <a:r>
              <a:t>Не объясняет причины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60768A"/>
                </a:solidFill>
                <a:latin typeface="Noto Sans"/>
              </a:defRPr>
            </a:pPr>
            <a:r>
              <a:t>проблем приложения.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79776" y="2148840"/>
            <a:ext cx="2075688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041294" y="2445837"/>
            <a:ext cx="409651" cy="117774"/>
          </a:xfrm>
          <a:prstGeom prst="rect">
            <a:avLst/>
          </a:prstGeom>
          <a:solidFill>
            <a:srgbClr val="FFFFFF"/>
          </a:solidFill>
          <a:ln w="19050">
            <a:solidFill>
              <a:srgbClr val="23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358774" y="2484241"/>
            <a:ext cx="30723" cy="30723"/>
          </a:xfrm>
          <a:prstGeom prst="ellipse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41294" y="2594335"/>
            <a:ext cx="409651" cy="117774"/>
          </a:xfrm>
          <a:prstGeom prst="rect">
            <a:avLst/>
          </a:prstGeom>
          <a:solidFill>
            <a:srgbClr val="FFFFFF"/>
          </a:solidFill>
          <a:ln w="19050">
            <a:solidFill>
              <a:srgbClr val="23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358774" y="2632740"/>
            <a:ext cx="30723" cy="30723"/>
          </a:xfrm>
          <a:prstGeom prst="ellipse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041294" y="2742834"/>
            <a:ext cx="409651" cy="117774"/>
          </a:xfrm>
          <a:prstGeom prst="rect">
            <a:avLst/>
          </a:prstGeom>
          <a:solidFill>
            <a:srgbClr val="FFFFFF"/>
          </a:solidFill>
          <a:ln w="19050">
            <a:solidFill>
              <a:srgbClr val="23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358774" y="2781239"/>
            <a:ext cx="30723" cy="30723"/>
          </a:xfrm>
          <a:prstGeom prst="ellipse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80944" y="3090672"/>
            <a:ext cx="1719072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02B46"/>
                </a:solidFill>
                <a:latin typeface="Noto Sans"/>
              </a:defRPr>
            </a:pPr>
            <a:r>
              <a:t>Хранилище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80944" y="3648456"/>
            <a:ext cx="1719072" cy="61264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223D56"/>
                </a:solidFill>
                <a:latin typeface="Noto Sans"/>
              </a:defRPr>
            </a:pPr>
            <a:r>
              <a:t>Ёмкость и свободное место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80944" y="4425696"/>
            <a:ext cx="170078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60768A"/>
                </a:solidFill>
                <a:latin typeface="Noto Sans"/>
              </a:defRPr>
            </a:pPr>
            <a:r>
              <a:t>Заполненность не равна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60768A"/>
                </a:solidFill>
                <a:latin typeface="Noto Sans"/>
              </a:defRPr>
            </a:pPr>
            <a:r>
              <a:t>скорости чтения и записи.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56632" y="2148840"/>
            <a:ext cx="2075688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318150" y="2522646"/>
            <a:ext cx="384048" cy="27139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860">
            <a:solidFill>
              <a:srgbClr val="23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702198" y="2609697"/>
            <a:ext cx="51206" cy="92171"/>
          </a:xfrm>
          <a:prstGeom prst="rect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69356" y="2573853"/>
            <a:ext cx="204825" cy="168981"/>
          </a:xfrm>
          <a:prstGeom prst="rect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57800" y="3090672"/>
            <a:ext cx="1719072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02B46"/>
                </a:solidFill>
                <a:latin typeface="Noto Sans"/>
              </a:defRPr>
            </a:pPr>
            <a:r>
              <a:t>Батарея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57800" y="3648456"/>
            <a:ext cx="1719072" cy="61264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223D56"/>
                </a:solidFill>
                <a:latin typeface="Noto Sans"/>
              </a:defRPr>
            </a:pPr>
            <a:r>
              <a:t>Заряд, температура, контекст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57800" y="4425696"/>
            <a:ext cx="170078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60768A"/>
                </a:solidFill>
                <a:latin typeface="Noto Sans"/>
              </a:defRPr>
            </a:pPr>
            <a:r>
              <a:t>Ток и счётчик заряда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60768A"/>
                </a:solidFill>
                <a:latin typeface="Noto Sans"/>
              </a:defRPr>
            </a:pPr>
            <a:r>
              <a:t>доступны не на всех моделях.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33488" y="2148840"/>
            <a:ext cx="2075688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733263" y="2430475"/>
            <a:ext cx="128016" cy="343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860">
            <a:solidFill>
              <a:srgbClr val="23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671816" y="2701869"/>
            <a:ext cx="256032" cy="256032"/>
          </a:xfrm>
          <a:prstGeom prst="ellipse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7794711" y="2517526"/>
            <a:ext cx="0" cy="245790"/>
          </a:xfrm>
          <a:prstGeom prst="line">
            <a:avLst/>
          </a:prstGeom>
          <a:ln w="2286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534656" y="3090672"/>
            <a:ext cx="1719072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02B46"/>
                </a:solidFill>
                <a:latin typeface="Noto Sans"/>
              </a:defRPr>
            </a:pPr>
            <a:r>
              <a:t>Thermal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34656" y="3648456"/>
            <a:ext cx="1719072" cy="61264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223D56"/>
                </a:solidFill>
                <a:latin typeface="Noto Sans"/>
              </a:defRPr>
            </a:pPr>
            <a:r>
              <a:t>Статус и запас до ограничений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34656" y="4425696"/>
            <a:ext cx="170078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60768A"/>
                </a:solidFill>
                <a:latin typeface="Noto Sans"/>
              </a:defRPr>
            </a:pPr>
            <a:r>
              <a:t>Зависит от версии API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60768A"/>
                </a:solidFill>
                <a:latin typeface="Noto Sans"/>
              </a:defRPr>
            </a:pPr>
            <a:r>
              <a:t>и реализации устройства.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610344" y="2148840"/>
            <a:ext cx="2075688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912827" y="2497043"/>
            <a:ext cx="327720" cy="327720"/>
          </a:xfrm>
          <a:prstGeom prst="rect">
            <a:avLst/>
          </a:prstGeom>
          <a:solidFill>
            <a:srgbClr val="FFFFFF"/>
          </a:solidFill>
          <a:ln w="22860">
            <a:solidFill>
              <a:srgbClr val="008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9974275" y="2404872"/>
            <a:ext cx="0" cy="92171"/>
          </a:xfrm>
          <a:prstGeom prst="line">
            <a:avLst/>
          </a:prstGeom>
          <a:ln w="22860">
            <a:solidFill>
              <a:srgbClr val="008F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974275" y="2824764"/>
            <a:ext cx="0" cy="92172"/>
          </a:xfrm>
          <a:prstGeom prst="line">
            <a:avLst/>
          </a:prstGeom>
          <a:ln w="22860">
            <a:solidFill>
              <a:srgbClr val="008F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820656" y="2558491"/>
            <a:ext cx="92171" cy="0"/>
          </a:xfrm>
          <a:prstGeom prst="line">
            <a:avLst/>
          </a:prstGeom>
          <a:ln w="22860">
            <a:solidFill>
              <a:srgbClr val="008F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40548" y="2558491"/>
            <a:ext cx="92172" cy="0"/>
          </a:xfrm>
          <a:prstGeom prst="line">
            <a:avLst/>
          </a:prstGeom>
          <a:ln w="22860">
            <a:solidFill>
              <a:srgbClr val="008F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076688" y="2404872"/>
            <a:ext cx="0" cy="92171"/>
          </a:xfrm>
          <a:prstGeom prst="line">
            <a:avLst/>
          </a:prstGeom>
          <a:ln w="22860">
            <a:solidFill>
              <a:srgbClr val="008F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076688" y="2824764"/>
            <a:ext cx="0" cy="92172"/>
          </a:xfrm>
          <a:prstGeom prst="line">
            <a:avLst/>
          </a:prstGeom>
          <a:ln w="22860">
            <a:solidFill>
              <a:srgbClr val="008F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820656" y="2660904"/>
            <a:ext cx="92171" cy="0"/>
          </a:xfrm>
          <a:prstGeom prst="line">
            <a:avLst/>
          </a:prstGeom>
          <a:ln w="22860">
            <a:solidFill>
              <a:srgbClr val="008F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0240548" y="2660904"/>
            <a:ext cx="92172" cy="0"/>
          </a:xfrm>
          <a:prstGeom prst="line">
            <a:avLst/>
          </a:prstGeom>
          <a:ln w="22860">
            <a:solidFill>
              <a:srgbClr val="008F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179100" y="2404872"/>
            <a:ext cx="0" cy="92171"/>
          </a:xfrm>
          <a:prstGeom prst="line">
            <a:avLst/>
          </a:prstGeom>
          <a:ln w="22860">
            <a:solidFill>
              <a:srgbClr val="008F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179100" y="2824764"/>
            <a:ext cx="0" cy="92172"/>
          </a:xfrm>
          <a:prstGeom prst="line">
            <a:avLst/>
          </a:prstGeom>
          <a:ln w="22860">
            <a:solidFill>
              <a:srgbClr val="008F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820656" y="2763316"/>
            <a:ext cx="92171" cy="0"/>
          </a:xfrm>
          <a:prstGeom prst="line">
            <a:avLst/>
          </a:prstGeom>
          <a:ln w="22860">
            <a:solidFill>
              <a:srgbClr val="008F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0240548" y="2763316"/>
            <a:ext cx="92172" cy="0"/>
          </a:xfrm>
          <a:prstGeom prst="line">
            <a:avLst/>
          </a:prstGeom>
          <a:ln w="22860">
            <a:solidFill>
              <a:srgbClr val="008F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9994757" y="2578973"/>
            <a:ext cx="163860" cy="163860"/>
          </a:xfrm>
          <a:prstGeom prst="rect">
            <a:avLst/>
          </a:prstGeom>
          <a:solidFill>
            <a:srgbClr val="E7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811512" y="3090672"/>
            <a:ext cx="1719072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02B46"/>
                </a:solidFill>
                <a:latin typeface="Noto Sans"/>
              </a:defRPr>
            </a:pPr>
            <a:r>
              <a:t>CPU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11512" y="3648456"/>
            <a:ext cx="1719072" cy="61264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223D56"/>
                </a:solidFill>
                <a:latin typeface="Noto Sans"/>
              </a:defRPr>
            </a:pPr>
            <a:r>
              <a:t>CPU агента и косвенные сигналы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11512" y="4425696"/>
            <a:ext cx="170078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60768A"/>
                </a:solidFill>
                <a:latin typeface="Noto Sans"/>
              </a:defRPr>
            </a:pPr>
            <a:r>
              <a:t>Общесистемная загрузка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60768A"/>
                </a:solidFill>
                <a:latin typeface="Noto Sans"/>
              </a:defRPr>
            </a:pPr>
            <a:r>
              <a:t>не гарантирована.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2920" y="5394960"/>
            <a:ext cx="11183112" cy="813816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5550408"/>
            <a:ext cx="8138160" cy="3017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Проверка из APK  →  источник / fallback  →  явный статус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71432" y="5577840"/>
            <a:ext cx="2221992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8BE0D6"/>
                </a:solidFill>
                <a:latin typeface="Noto Sans"/>
              </a:defRPr>
            </a:pPr>
            <a:r>
              <a:t>UNSUPPORTED ≠ 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292608" cy="50292"/>
          </a:xfrm>
          <a:prstGeom prst="rect">
            <a:avLst/>
          </a:prstGeom>
          <a:solidFill>
            <a:srgbClr val="00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20040"/>
            <a:ext cx="8503920" cy="2651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60768A"/>
                </a:solidFill>
                <a:latin typeface="Noto Sans"/>
              </a:defRPr>
            </a:pPr>
            <a:r>
              <a:t>AHWOTel  /  OEM / SAMSUNG KNOX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6583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102B46"/>
                </a:solidFill>
                <a:latin typeface="Noto Sans"/>
              </a:defRPr>
            </a:pPr>
            <a:r>
              <a:t>Больше корпоративного контекста — при наличии прав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463040"/>
            <a:ext cx="10972800" cy="4297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60768A"/>
                </a:solidFill>
                <a:latin typeface="Noto Sans"/>
              </a:defRPr>
            </a:pPr>
            <a:r>
              <a:t>Регистрация разработчика и наличие библиотеки сами по себе не открывают все 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301752"/>
            <a:ext cx="2542032" cy="283464"/>
          </a:xfrm>
          <a:prstGeom prst="roundRect">
            <a:avLst>
              <a:gd name="adj" fmla="val 12000"/>
            </a:avLst>
          </a:prstGeom>
          <a:solidFill>
            <a:srgbClr val="E7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8" y="327355"/>
            <a:ext cx="2414015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50" b="1">
                <a:solidFill>
                  <a:srgbClr val="2369DC"/>
                </a:solidFill>
                <a:latin typeface="Noto Sans"/>
              </a:defRPr>
            </a:pPr>
            <a:r>
              <a:t>KNOX: НУЖЕН СТЕНД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7620">
            <a:solidFill>
              <a:srgbClr val="DCE4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6537960"/>
            <a:ext cx="7223760" cy="19202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60768A"/>
                </a:solidFill>
                <a:latin typeface="Noto Sans"/>
              </a:defRPr>
            </a:pPr>
            <a:r>
              <a:t>AHWOTel  ·  прототип → управляемый пилот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537960"/>
            <a:ext cx="1325880" cy="19202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60768A"/>
                </a:solidFill>
                <a:latin typeface="Noto Sans"/>
              </a:defRPr>
            </a:pPr>
            <a:r>
              <a:t>14.09.2026</a:t>
            </a:r>
          </a:p>
        </p:txBody>
      </p:sp>
      <p:sp>
        <p:nvSpPr>
          <p:cNvPr id="11" name="Oval 10"/>
          <p:cNvSpPr/>
          <p:nvPr/>
        </p:nvSpPr>
        <p:spPr>
          <a:xfrm>
            <a:off x="11292840" y="6510528"/>
            <a:ext cx="256032" cy="256032"/>
          </a:xfrm>
          <a:prstGeom prst="ellipse">
            <a:avLst/>
          </a:prstGeom>
          <a:solidFill>
            <a:srgbClr val="10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Noto Sans"/>
              </a:defRPr>
            </a:pPr>
            <a:r>
              <a:t>03</a:t>
            </a:r>
          </a:p>
        </p:txBody>
      </p:sp>
      <p:pic>
        <p:nvPicPr>
          <p:cNvPr id="12" name="Picture 11" descr="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75104"/>
            <a:ext cx="4590288" cy="2582265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5376672" y="2139696"/>
            <a:ext cx="301752" cy="301752"/>
          </a:xfrm>
          <a:prstGeom prst="ellipse">
            <a:avLst/>
          </a:prstGeom>
          <a:solidFill>
            <a:srgbClr val="00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9592" y="2084831"/>
            <a:ext cx="5577840" cy="3931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102B46"/>
                </a:solidFill>
                <a:latin typeface="Noto Sans"/>
              </a:defRPr>
            </a:pPr>
            <a:r>
              <a:t>Устройство и безопасность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9592" y="2523744"/>
            <a:ext cx="5504688" cy="42062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60768A"/>
                </a:solidFill>
                <a:latin typeface="Noto Sans"/>
              </a:defRPr>
            </a:pPr>
            <a:r>
              <a:t>Платформа, конфигурация, доступные состояния</a:t>
            </a:r>
          </a:p>
        </p:txBody>
      </p:sp>
      <p:sp>
        <p:nvSpPr>
          <p:cNvPr id="16" name="Oval 15"/>
          <p:cNvSpPr/>
          <p:nvPr/>
        </p:nvSpPr>
        <p:spPr>
          <a:xfrm>
            <a:off x="5376672" y="3127248"/>
            <a:ext cx="301752" cy="301752"/>
          </a:xfrm>
          <a:prstGeom prst="ellipse">
            <a:avLst/>
          </a:prstGeom>
          <a:solidFill>
            <a:srgbClr val="00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9592" y="3072384"/>
            <a:ext cx="5577840" cy="3931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102B46"/>
                </a:solidFill>
                <a:latin typeface="Noto Sans"/>
              </a:defRPr>
            </a:pPr>
            <a:r>
              <a:t>Приложения и сеть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3511296"/>
            <a:ext cx="5504688" cy="42062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60768A"/>
                </a:solidFill>
                <a:latin typeface="Noto Sans"/>
              </a:defRPr>
            </a:pPr>
            <a:r>
              <a:t>Инвентарь и ограничения в рамках разрешённых API</a:t>
            </a:r>
          </a:p>
        </p:txBody>
      </p:sp>
      <p:sp>
        <p:nvSpPr>
          <p:cNvPr id="19" name="Oval 18"/>
          <p:cNvSpPr/>
          <p:nvPr/>
        </p:nvSpPr>
        <p:spPr>
          <a:xfrm>
            <a:off x="5376672" y="4114799"/>
            <a:ext cx="301752" cy="301752"/>
          </a:xfrm>
          <a:prstGeom prst="ellipse">
            <a:avLst/>
          </a:prstGeom>
          <a:solidFill>
            <a:srgbClr val="00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9592" y="4059935"/>
            <a:ext cx="5577840" cy="3931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102B46"/>
                </a:solidFill>
                <a:latin typeface="Noto Sans"/>
              </a:defRPr>
            </a:pPr>
            <a:r>
              <a:t>Корпоративные политики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9592" y="4498848"/>
            <a:ext cx="5504688" cy="42062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60768A"/>
                </a:solidFill>
                <a:latin typeface="Noto Sans"/>
              </a:defRPr>
            </a:pPr>
            <a:r>
              <a:t>USB, камера, Wi-Fi, Bluetooth, установка приложений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846320"/>
            <a:ext cx="1389888" cy="283464"/>
          </a:xfrm>
          <a:prstGeom prst="roundRect">
            <a:avLst>
              <a:gd name="adj" fmla="val 12000"/>
            </a:avLst>
          </a:prstGeom>
          <a:solidFill>
            <a:srgbClr val="E7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4871923"/>
            <a:ext cx="1261872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50" b="1">
                <a:solidFill>
                  <a:srgbClr val="2369DC"/>
                </a:solidFill>
                <a:latin typeface="Noto Sans"/>
              </a:defRPr>
            </a:pPr>
            <a:r>
              <a:t>МОДЕЛЬ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48840" y="4846320"/>
            <a:ext cx="1627632" cy="283464"/>
          </a:xfrm>
          <a:prstGeom prst="roundRect">
            <a:avLst>
              <a:gd name="adj" fmla="val 12000"/>
            </a:avLst>
          </a:prstGeom>
          <a:solidFill>
            <a:srgbClr val="E7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12848" y="4871923"/>
            <a:ext cx="1499616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50" b="1">
                <a:solidFill>
                  <a:srgbClr val="2369DC"/>
                </a:solidFill>
                <a:latin typeface="Noto Sans"/>
              </a:defRPr>
            </a:pPr>
            <a:r>
              <a:t>ВЕРСИЯ 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68496" y="4846320"/>
            <a:ext cx="1335024" cy="283464"/>
          </a:xfrm>
          <a:prstGeom prst="roundRect">
            <a:avLst>
              <a:gd name="adj" fmla="val 12000"/>
            </a:avLst>
          </a:prstGeom>
          <a:solidFill>
            <a:srgbClr val="E7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32504" y="4871923"/>
            <a:ext cx="1207007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50" b="1">
                <a:solidFill>
                  <a:srgbClr val="2369DC"/>
                </a:solidFill>
                <a:latin typeface="Noto Sans"/>
              </a:defRPr>
            </a:pPr>
            <a:r>
              <a:t>ПРАВА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95544" y="4846320"/>
            <a:ext cx="1682496" cy="283464"/>
          </a:xfrm>
          <a:prstGeom prst="roundRect">
            <a:avLst>
              <a:gd name="adj" fmla="val 12000"/>
            </a:avLst>
          </a:prstGeom>
          <a:solidFill>
            <a:srgbClr val="E7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59552" y="4871923"/>
            <a:ext cx="155448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50" b="1">
                <a:solidFill>
                  <a:srgbClr val="2369DC"/>
                </a:solidFill>
                <a:latin typeface="Noto Sans"/>
              </a:defRPr>
            </a:pPr>
            <a:r>
              <a:t>ЛИЦЕНЗИЯ*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70064" y="4846320"/>
            <a:ext cx="1901952" cy="283464"/>
          </a:xfrm>
          <a:prstGeom prst="roundRect">
            <a:avLst>
              <a:gd name="adj" fmla="val 12000"/>
            </a:avLst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34072" y="4871923"/>
            <a:ext cx="1773936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50" b="1">
                <a:solidFill>
                  <a:srgbClr val="008F95"/>
                </a:solidFill>
                <a:latin typeface="Noto Sans"/>
              </a:defRPr>
            </a:pPr>
            <a:r>
              <a:t>ВЫЗОВ ИЗ APK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4882896"/>
            <a:ext cx="1865376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0768A"/>
                </a:solidFill>
                <a:latin typeface="Noto Sans"/>
              </a:defRPr>
            </a:pPr>
            <a:r>
              <a:t>* зависит от API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422392"/>
            <a:ext cx="11183112" cy="804672"/>
          </a:xfrm>
          <a:prstGeom prst="roundRect">
            <a:avLst>
              <a:gd name="adj" fmla="val 12000"/>
            </a:avLst>
          </a:prstGeom>
          <a:solidFill>
            <a:srgbClr val="FF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5541264"/>
            <a:ext cx="10579608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223D56"/>
                </a:solidFill>
                <a:latin typeface="Noto Sans"/>
              </a:defRPr>
            </a:pPr>
            <a:r>
              <a:t>SM-J260F: библиотека есть, требуемый публичный метод API отсутствует.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" y="5870448"/>
            <a:ext cx="10579608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50" b="0">
                <a:solidFill>
                  <a:srgbClr val="60768A"/>
                </a:solidFill>
                <a:latin typeface="Noto Sans"/>
              </a:defRPr>
            </a:pPr>
            <a:r>
              <a:t>Расширенные Knox-чтения не подтверждены. Android-сбор продолжает работу.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292608" cy="50292"/>
          </a:xfrm>
          <a:prstGeom prst="rect">
            <a:avLst/>
          </a:prstGeom>
          <a:solidFill>
            <a:srgbClr val="00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20040"/>
            <a:ext cx="8503920" cy="2651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60768A"/>
                </a:solidFill>
                <a:latin typeface="Noto Sans"/>
              </a:defRPr>
            </a:pPr>
            <a:r>
              <a:t>AHWOTel  /  SELF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6583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102B46"/>
                </a:solidFill>
                <a:latin typeface="Noto Sans"/>
              </a:defRPr>
            </a:pPr>
            <a:r>
              <a:t>Измеряем стоимость самого мониторинга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463040"/>
            <a:ext cx="10972800" cy="4297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60768A"/>
                </a:solidFill>
                <a:latin typeface="Noto Sans"/>
              </a:defRPr>
            </a:pPr>
            <a:r>
              <a:t>Сравниваем режимы на одинаковых моделях и при сопоставимой рабочей нагрузке.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301752"/>
            <a:ext cx="2542032" cy="283464"/>
          </a:xfrm>
          <a:prstGeom prst="roundRect">
            <a:avLst>
              <a:gd name="adj" fmla="val 12000"/>
            </a:avLst>
          </a:prstGeom>
          <a:solidFill>
            <a:srgbClr val="E7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8" y="327355"/>
            <a:ext cx="2414015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50" b="1">
                <a:solidFill>
                  <a:srgbClr val="2369DC"/>
                </a:solidFill>
                <a:latin typeface="Noto Sans"/>
              </a:defRPr>
            </a:pPr>
            <a:r>
              <a:t>СБОР ЕСТЬ · НУЖЕН A/B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7620">
            <a:solidFill>
              <a:srgbClr val="DCE4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6537960"/>
            <a:ext cx="7223760" cy="19202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60768A"/>
                </a:solidFill>
                <a:latin typeface="Noto Sans"/>
              </a:defRPr>
            </a:pPr>
            <a:r>
              <a:t>AHWOTel  ·  прототип → управляемый пилот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537960"/>
            <a:ext cx="1325880" cy="19202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60768A"/>
                </a:solidFill>
                <a:latin typeface="Noto Sans"/>
              </a:defRPr>
            </a:pPr>
            <a:r>
              <a:t>14.09.2026</a:t>
            </a:r>
          </a:p>
        </p:txBody>
      </p:sp>
      <p:sp>
        <p:nvSpPr>
          <p:cNvPr id="11" name="Oval 10"/>
          <p:cNvSpPr/>
          <p:nvPr/>
        </p:nvSpPr>
        <p:spPr>
          <a:xfrm>
            <a:off x="11292840" y="6510528"/>
            <a:ext cx="256032" cy="256032"/>
          </a:xfrm>
          <a:prstGeom prst="ellipse">
            <a:avLst/>
          </a:prstGeom>
          <a:solidFill>
            <a:srgbClr val="10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066543"/>
            <a:ext cx="3602736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4862" y="2338486"/>
            <a:ext cx="251642" cy="251642"/>
          </a:xfrm>
          <a:prstGeom prst="rect">
            <a:avLst/>
          </a:prstGeom>
          <a:solidFill>
            <a:srgbClr val="FFFFFF"/>
          </a:solidFill>
          <a:ln w="22860">
            <a:solidFill>
              <a:srgbClr val="23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822045" y="2267712"/>
            <a:ext cx="0" cy="70774"/>
          </a:xfrm>
          <a:prstGeom prst="line">
            <a:avLst/>
          </a:prstGeom>
          <a:ln w="2286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2045" y="2590129"/>
            <a:ext cx="0" cy="70775"/>
          </a:xfrm>
          <a:prstGeom prst="line">
            <a:avLst/>
          </a:prstGeom>
          <a:ln w="2286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4088" y="2385669"/>
            <a:ext cx="70774" cy="0"/>
          </a:xfrm>
          <a:prstGeom prst="line">
            <a:avLst/>
          </a:prstGeom>
          <a:ln w="2286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26505" y="2385669"/>
            <a:ext cx="70775" cy="0"/>
          </a:xfrm>
          <a:prstGeom prst="line">
            <a:avLst/>
          </a:prstGeom>
          <a:ln w="2286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0684" y="2267712"/>
            <a:ext cx="0" cy="70774"/>
          </a:xfrm>
          <a:prstGeom prst="line">
            <a:avLst/>
          </a:prstGeom>
          <a:ln w="2286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0684" y="2590129"/>
            <a:ext cx="0" cy="70775"/>
          </a:xfrm>
          <a:prstGeom prst="line">
            <a:avLst/>
          </a:prstGeom>
          <a:ln w="2286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04088" y="2464308"/>
            <a:ext cx="70774" cy="0"/>
          </a:xfrm>
          <a:prstGeom prst="line">
            <a:avLst/>
          </a:prstGeom>
          <a:ln w="2286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26505" y="2464308"/>
            <a:ext cx="70775" cy="0"/>
          </a:xfrm>
          <a:prstGeom prst="line">
            <a:avLst/>
          </a:prstGeom>
          <a:ln w="2286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79322" y="2267712"/>
            <a:ext cx="0" cy="70774"/>
          </a:xfrm>
          <a:prstGeom prst="line">
            <a:avLst/>
          </a:prstGeom>
          <a:ln w="2286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79322" y="2590129"/>
            <a:ext cx="0" cy="70775"/>
          </a:xfrm>
          <a:prstGeom prst="line">
            <a:avLst/>
          </a:prstGeom>
          <a:ln w="2286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04088" y="2542946"/>
            <a:ext cx="70774" cy="0"/>
          </a:xfrm>
          <a:prstGeom prst="line">
            <a:avLst/>
          </a:prstGeom>
          <a:ln w="2286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26505" y="2542946"/>
            <a:ext cx="70775" cy="0"/>
          </a:xfrm>
          <a:prstGeom prst="line">
            <a:avLst/>
          </a:prstGeom>
          <a:ln w="2286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37773" y="2401397"/>
            <a:ext cx="125821" cy="125821"/>
          </a:xfrm>
          <a:prstGeom prst="rect">
            <a:avLst/>
          </a:prstGeom>
          <a:solidFill>
            <a:srgbClr val="E7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52728" y="2258568"/>
            <a:ext cx="2688336" cy="4846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102B46"/>
                </a:solidFill>
                <a:latin typeface="Noto Sans"/>
              </a:defRPr>
            </a:pPr>
            <a:r>
              <a:t>CPU и память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2880360"/>
            <a:ext cx="3182112" cy="85953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60768A"/>
                </a:solidFill>
                <a:latin typeface="Noto Sans"/>
              </a:defRPr>
            </a:pPr>
            <a:r>
              <a:t>Потребление процесса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60768A"/>
                </a:solidFill>
                <a:latin typeface="Noto Sans"/>
              </a:defRPr>
            </a:pPr>
            <a:r>
              <a:t>и динамика ресурсов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2066543"/>
            <a:ext cx="3602736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18507" y="2523286"/>
            <a:ext cx="86502" cy="86502"/>
          </a:xfrm>
          <a:prstGeom prst="rect">
            <a:avLst/>
          </a:prstGeom>
          <a:solidFill>
            <a:srgbClr val="FFFFFF"/>
          </a:solidFill>
          <a:ln w="19050">
            <a:solidFill>
              <a:srgbClr val="23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56124" y="2287371"/>
            <a:ext cx="86502" cy="86502"/>
          </a:xfrm>
          <a:prstGeom prst="rect">
            <a:avLst/>
          </a:prstGeom>
          <a:solidFill>
            <a:srgbClr val="FFFFFF"/>
          </a:solidFill>
          <a:ln w="19050">
            <a:solidFill>
              <a:srgbClr val="23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93742" y="2523286"/>
            <a:ext cx="86502" cy="86502"/>
          </a:xfrm>
          <a:prstGeom prst="rect">
            <a:avLst/>
          </a:prstGeom>
          <a:solidFill>
            <a:srgbClr val="FFFFFF"/>
          </a:solidFill>
          <a:ln w="19050">
            <a:solidFill>
              <a:srgbClr val="23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V="1">
            <a:off x="4561758" y="2373873"/>
            <a:ext cx="133686" cy="149413"/>
          </a:xfrm>
          <a:prstGeom prst="line">
            <a:avLst/>
          </a:prstGeom>
          <a:ln w="2286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4695444" y="2373873"/>
            <a:ext cx="137617" cy="149413"/>
          </a:xfrm>
          <a:prstGeom prst="line">
            <a:avLst/>
          </a:prstGeom>
          <a:ln w="2286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608941" y="2570469"/>
            <a:ext cx="184801" cy="0"/>
          </a:xfrm>
          <a:prstGeom prst="line">
            <a:avLst/>
          </a:prstGeom>
          <a:ln w="2286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47488" y="2258568"/>
            <a:ext cx="2688336" cy="4846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102B46"/>
                </a:solidFill>
                <a:latin typeface="Noto Sans"/>
              </a:defRPr>
            </a:pPr>
            <a:r>
              <a:t>Сеть и хранение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07992" y="2880360"/>
            <a:ext cx="3182112" cy="85953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60768A"/>
                </a:solidFill>
                <a:latin typeface="Noto Sans"/>
              </a:defRPr>
            </a:pPr>
            <a:r>
              <a:t>Трафик, база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60768A"/>
                </a:solidFill>
                <a:latin typeface="Noto Sans"/>
              </a:defRPr>
            </a:pPr>
            <a:r>
              <a:t>и очередь отправки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2440" y="2066543"/>
            <a:ext cx="3602736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313267" y="2287371"/>
            <a:ext cx="353872" cy="353872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08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 flipV="1">
            <a:off x="8490204" y="2366010"/>
            <a:ext cx="0" cy="98298"/>
          </a:xfrm>
          <a:prstGeom prst="line">
            <a:avLst/>
          </a:prstGeom>
          <a:ln w="22860">
            <a:solidFill>
              <a:srgbClr val="008F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90204" y="2464308"/>
            <a:ext cx="82570" cy="51114"/>
          </a:xfrm>
          <a:prstGeom prst="line">
            <a:avLst/>
          </a:prstGeom>
          <a:ln w="22860">
            <a:solidFill>
              <a:srgbClr val="008F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842248" y="2258568"/>
            <a:ext cx="2688336" cy="4846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102B46"/>
                </a:solidFill>
                <a:latin typeface="Noto Sans"/>
              </a:defRPr>
            </a:pPr>
            <a:r>
              <a:t>Задачи и WakeLock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2752" y="2880360"/>
            <a:ext cx="3182112" cy="85953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60768A"/>
                </a:solidFill>
                <a:latin typeface="Noto Sans"/>
              </a:defRPr>
            </a:pPr>
            <a:r>
              <a:t>Длительность, задержки,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60768A"/>
                </a:solidFill>
                <a:latin typeface="Noto Sans"/>
              </a:defRPr>
            </a:pPr>
            <a:r>
              <a:t>повторы и удержание CPU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6" y="4142232"/>
            <a:ext cx="4572000" cy="2651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60768A"/>
                </a:solidFill>
                <a:latin typeface="Noto Sans"/>
              </a:defRPr>
            </a:pPr>
            <a:r>
              <a:t>ПРОГРАММА СРАВНЕНИЯ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4553712"/>
            <a:ext cx="3602736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" y="4690872"/>
            <a:ext cx="3154680" cy="3017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02B46"/>
                </a:solidFill>
                <a:latin typeface="Noto Sans"/>
              </a:defRPr>
            </a:pPr>
            <a:r>
              <a:t>Агент выключен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" y="5056632"/>
            <a:ext cx="315468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60768A"/>
                </a:solidFill>
                <a:latin typeface="Noto Sans"/>
              </a:defRPr>
            </a:pPr>
            <a:r>
              <a:t>Базовый режим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97680" y="4553712"/>
            <a:ext cx="3602736" cy="841248"/>
          </a:xfrm>
          <a:prstGeom prst="roundRect">
            <a:avLst>
              <a:gd name="adj" fmla="val 12000"/>
            </a:avLst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07992" y="4690872"/>
            <a:ext cx="3154680" cy="3017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008F95"/>
                </a:solidFill>
                <a:latin typeface="Noto Sans"/>
              </a:defRPr>
            </a:pPr>
            <a:r>
              <a:t>Обычный профиль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07992" y="5056632"/>
            <a:ext cx="315468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60768A"/>
                </a:solidFill>
                <a:latin typeface="Noto Sans"/>
              </a:defRPr>
            </a:pPr>
            <a:r>
              <a:t>Штатная нагрузка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92440" y="4553712"/>
            <a:ext cx="3602736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02752" y="4690872"/>
            <a:ext cx="3154680" cy="3017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02B46"/>
                </a:solidFill>
                <a:latin typeface="Noto Sans"/>
              </a:defRPr>
            </a:pPr>
            <a:r>
              <a:t>Диагностика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02752" y="5056632"/>
            <a:ext cx="315468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60768A"/>
                </a:solidFill>
                <a:latin typeface="Noto Sans"/>
              </a:defRPr>
            </a:pPr>
            <a:r>
              <a:t>Повышенная частота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072" y="5705856"/>
            <a:ext cx="1097280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102B46"/>
                </a:solidFill>
                <a:latin typeface="Noto Sans"/>
              </a:defRPr>
            </a:pPr>
            <a:r>
              <a:t>Self Telemetry &lt; 5% нагрузки агента — целевой бюджет, ещё не доказанный результат.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6072" y="6062472"/>
            <a:ext cx="10972800" cy="2377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60768A"/>
                </a:solidFill>
                <a:latin typeface="Noto Sans"/>
              </a:defRPr>
            </a:pPr>
            <a:r>
              <a:t>Разряд батареи устройства — контекст; точное энергопотребление агента в mAh не заявляется.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292608" cy="50292"/>
          </a:xfrm>
          <a:prstGeom prst="rect">
            <a:avLst/>
          </a:prstGeom>
          <a:solidFill>
            <a:srgbClr val="00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20040"/>
            <a:ext cx="8503920" cy="2651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60768A"/>
                </a:solidFill>
                <a:latin typeface="Noto Sans"/>
              </a:defRPr>
            </a:pPr>
            <a:r>
              <a:t>AHWOTel  /  OPENTELEMETRY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6583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102B46"/>
                </a:solidFill>
                <a:latin typeface="Noto Sans"/>
              </a:defRPr>
            </a:pPr>
            <a:r>
              <a:t>Готовая инфраструктура от телефона до витрины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463040"/>
            <a:ext cx="10972800" cy="4297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60768A"/>
                </a:solidFill>
                <a:latin typeface="Noto Sans"/>
              </a:defRPr>
            </a:pPr>
            <a:r>
              <a:t>OTel — инструменты для телеметрии. OTLP — протокол передачи. Хранение и графики — отдельные системы.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301752"/>
            <a:ext cx="2542032" cy="283464"/>
          </a:xfrm>
          <a:prstGeom prst="roundRect">
            <a:avLst>
              <a:gd name="adj" fmla="val 12000"/>
            </a:avLst>
          </a:prstGeom>
          <a:solidFill>
            <a:srgbClr val="E7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8" y="327355"/>
            <a:ext cx="2414015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50" b="1">
                <a:solidFill>
                  <a:srgbClr val="2369DC"/>
                </a:solidFill>
                <a:latin typeface="Noto Sans"/>
              </a:defRPr>
            </a:pPr>
            <a:r>
              <a:t>ВНЕШНИЙ СТЕНД — ДАЛЕЕ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7620">
            <a:solidFill>
              <a:srgbClr val="DCE4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6537960"/>
            <a:ext cx="7223760" cy="19202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60768A"/>
                </a:solidFill>
                <a:latin typeface="Noto Sans"/>
              </a:defRPr>
            </a:pPr>
            <a:r>
              <a:t>AHWOTel  ·  прототип → управляемый пилот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537960"/>
            <a:ext cx="1325880" cy="19202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60768A"/>
                </a:solidFill>
                <a:latin typeface="Noto Sans"/>
              </a:defRPr>
            </a:pPr>
            <a:r>
              <a:t>14.09.2026</a:t>
            </a:r>
          </a:p>
        </p:txBody>
      </p:sp>
      <p:sp>
        <p:nvSpPr>
          <p:cNvPr id="11" name="Oval 10"/>
          <p:cNvSpPr/>
          <p:nvPr/>
        </p:nvSpPr>
        <p:spPr>
          <a:xfrm>
            <a:off x="11292840" y="6510528"/>
            <a:ext cx="256032" cy="256032"/>
          </a:xfrm>
          <a:prstGeom prst="ellipse">
            <a:avLst/>
          </a:prstGeom>
          <a:solidFill>
            <a:srgbClr val="10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Noto Sans"/>
              </a:defRPr>
            </a:pPr>
            <a:r>
              <a:t>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48840"/>
            <a:ext cx="2130552" cy="17007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368296"/>
            <a:ext cx="1819656" cy="3931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102B46"/>
                </a:solidFill>
                <a:latin typeface="Noto Sans"/>
              </a:defRPr>
            </a:pPr>
            <a:r>
              <a:t>AHWOTel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054096"/>
            <a:ext cx="1819656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68A"/>
                </a:solidFill>
                <a:latin typeface="Noto Sans"/>
              </a:defRPr>
            </a:pPr>
            <a:r>
              <a:t>Локальная история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68A"/>
                </a:solidFill>
                <a:latin typeface="Noto Sans"/>
              </a:defRPr>
            </a:pPr>
            <a:r>
              <a:t>и очередь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67328" y="2148840"/>
            <a:ext cx="2761488" cy="17007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22776" y="2368296"/>
            <a:ext cx="2450592" cy="3931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102B46"/>
                </a:solidFill>
                <a:latin typeface="Noto Sans"/>
              </a:defRPr>
            </a:pPr>
            <a:r>
              <a:t>OTel Collector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22776" y="3054096"/>
            <a:ext cx="2450592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68A"/>
                </a:solidFill>
                <a:latin typeface="Noto Sans"/>
              </a:defRPr>
            </a:pPr>
            <a:r>
              <a:t>Защищённый ingest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68A"/>
                </a:solidFill>
                <a:latin typeface="Noto Sans"/>
              </a:defRPr>
            </a:pPr>
            <a:r>
              <a:t>Приём → обработка → экспорт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2148840"/>
            <a:ext cx="1783080" cy="17007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368296"/>
            <a:ext cx="1472184" cy="3931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50" b="1">
                <a:solidFill>
                  <a:srgbClr val="102B46"/>
                </a:solidFill>
                <a:latin typeface="Noto Sans"/>
              </a:defRPr>
            </a:pPr>
            <a:r>
              <a:t>Prometheus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2088" y="3054096"/>
            <a:ext cx="147218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68A"/>
                </a:solidFill>
                <a:latin typeface="Noto Sans"/>
              </a:defRPr>
            </a:pPr>
            <a:r>
              <a:t>Хранение метрик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66376" y="2148840"/>
            <a:ext cx="1819656" cy="17007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21824" y="2368296"/>
            <a:ext cx="1508760" cy="3931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50" b="1">
                <a:solidFill>
                  <a:srgbClr val="102B46"/>
                </a:solidFill>
                <a:latin typeface="Noto Sans"/>
              </a:defRPr>
            </a:pPr>
            <a:r>
              <a:t>Grafana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21824" y="3054096"/>
            <a:ext cx="150876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68A"/>
                </a:solidFill>
                <a:latin typeface="Noto Sans"/>
              </a:defRPr>
            </a:pPr>
            <a:r>
              <a:t>Графики и витрины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770632" y="2898648"/>
            <a:ext cx="731520" cy="182880"/>
          </a:xfrm>
          <a:prstGeom prst="rightArrow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61488" y="2377440"/>
            <a:ext cx="841248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2369DC"/>
                </a:solidFill>
                <a:latin typeface="Noto Sans"/>
              </a:defRPr>
            </a:pPr>
            <a:r>
              <a:t>PUSH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70048" y="3346704"/>
            <a:ext cx="1005840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60768A"/>
                </a:solidFill>
                <a:latin typeface="Noto Sans"/>
              </a:defRPr>
            </a:pPr>
            <a:r>
              <a:t>OTLP/HTTPS</a:t>
            </a:r>
          </a:p>
        </p:txBody>
      </p:sp>
      <p:sp>
        <p:nvSpPr>
          <p:cNvPr id="27" name="Left Arrow 26"/>
          <p:cNvSpPr/>
          <p:nvPr/>
        </p:nvSpPr>
        <p:spPr>
          <a:xfrm>
            <a:off x="6748272" y="2898648"/>
            <a:ext cx="429768" cy="182880"/>
          </a:xfrm>
          <a:prstGeom prst="leftArrow">
            <a:avLst/>
          </a:prstGeom>
          <a:solidFill>
            <a:srgbClr val="00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93408" y="2377440"/>
            <a:ext cx="612648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008F95"/>
                </a:solidFill>
                <a:latin typeface="Noto Sans"/>
              </a:defRPr>
            </a:pPr>
            <a:r>
              <a:t>PULL</a:t>
            </a:r>
          </a:p>
        </p:txBody>
      </p:sp>
      <p:sp>
        <p:nvSpPr>
          <p:cNvPr id="29" name="Left Arrow 28"/>
          <p:cNvSpPr/>
          <p:nvPr/>
        </p:nvSpPr>
        <p:spPr>
          <a:xfrm>
            <a:off x="9345168" y="2898648"/>
            <a:ext cx="356616" cy="182880"/>
          </a:xfrm>
          <a:prstGeom prst="leftArrow">
            <a:avLst/>
          </a:prstGeom>
          <a:solidFill>
            <a:srgbClr val="60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53728" y="3310128"/>
            <a:ext cx="585216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60768A"/>
                </a:solidFill>
                <a:latin typeface="Noto Sans"/>
              </a:defRPr>
            </a:pPr>
            <a:r>
              <a:t>запрос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041648"/>
            <a:ext cx="10972800" cy="2377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60768A"/>
                </a:solidFill>
                <a:latin typeface="Noto Sans"/>
              </a:defRPr>
            </a:pPr>
            <a:r>
              <a:t>Стрелки — инициаторы запросов; метрики возвращаются в ответах.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572000"/>
            <a:ext cx="3602736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4088" y="4773168"/>
            <a:ext cx="41148" cy="338328"/>
          </a:xfrm>
          <a:prstGeom prst="rect">
            <a:avLst/>
          </a:prstGeom>
          <a:solidFill>
            <a:srgbClr val="00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764024"/>
            <a:ext cx="3035808" cy="4663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102B46"/>
                </a:solidFill>
                <a:latin typeface="Noto Sans"/>
              </a:defRPr>
            </a:pPr>
            <a:r>
              <a:t>Управление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5321808"/>
            <a:ext cx="3182112" cy="7406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60768A"/>
                </a:solidFill>
                <a:latin typeface="Noto Sans"/>
              </a:defRPr>
            </a:pPr>
            <a:r>
              <a:t>SOTI: установка, настройки, START/STOP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4572000"/>
            <a:ext cx="3602736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98848" y="4773168"/>
            <a:ext cx="41148" cy="338328"/>
          </a:xfrm>
          <a:prstGeom prst="rect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0" y="4764024"/>
            <a:ext cx="3035808" cy="4663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102B46"/>
                </a:solidFill>
                <a:latin typeface="Noto Sans"/>
              </a:defRPr>
            </a:pPr>
            <a:r>
              <a:t>Расширяемость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07992" y="5321808"/>
            <a:ext cx="3182112" cy="7406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60768A"/>
                </a:solidFill>
                <a:latin typeface="Noto Sans"/>
              </a:defRPr>
            </a:pPr>
            <a:r>
              <a:t>Receivers · processors · exporters;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60768A"/>
                </a:solidFill>
                <a:latin typeface="Noto Sans"/>
              </a:defRPr>
            </a:pPr>
            <a:r>
              <a:t>служебные extensions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92440" y="4572000"/>
            <a:ext cx="3593592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93608" y="4773168"/>
            <a:ext cx="41148" cy="338328"/>
          </a:xfrm>
          <a:prstGeom prst="rect">
            <a:avLst/>
          </a:prstGeom>
          <a:solidFill>
            <a:srgbClr val="B77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4764024"/>
            <a:ext cx="3026664" cy="4663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102B46"/>
                </a:solidFill>
                <a:latin typeface="Noto Sans"/>
              </a:defRPr>
            </a:pPr>
            <a:r>
              <a:t>Текущий результат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2752" y="5321808"/>
            <a:ext cx="3172968" cy="7406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60768A"/>
                </a:solidFill>
                <a:latin typeface="Noto Sans"/>
              </a:defRPr>
            </a:pPr>
            <a:r>
              <a:t>Локальный HTTPS mock — проверено.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60768A"/>
                </a:solidFill>
                <a:latin typeface="Noto Sans"/>
              </a:defRPr>
            </a:pPr>
            <a:r>
              <a:t>Внешний Collector — далее.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292608" cy="50292"/>
          </a:xfrm>
          <a:prstGeom prst="rect">
            <a:avLst/>
          </a:prstGeom>
          <a:solidFill>
            <a:srgbClr val="00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20040"/>
            <a:ext cx="8503920" cy="2651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60768A"/>
                </a:solidFill>
                <a:latin typeface="Noto Sans"/>
              </a:defRPr>
            </a:pPr>
            <a:r>
              <a:t>AHWOTel  /  ДОВЕРЕННАЯ ТЕЛЕМЕТРИЯ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6583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102B46"/>
                </a:solidFill>
                <a:latin typeface="Noto Sans"/>
              </a:defRPr>
            </a:pPr>
            <a:r>
              <a:t>Кто отправляет данные — и за какое устройство?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463040"/>
            <a:ext cx="10972800" cy="4297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60768A"/>
                </a:solidFill>
                <a:latin typeface="Noto Sans"/>
              </a:defRPr>
            </a:pPr>
            <a:r>
              <a:t>Защита канала, аутентификация отправителя и авторизация приёма решают разные задачи.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301752"/>
            <a:ext cx="2542032" cy="283464"/>
          </a:xfrm>
          <a:prstGeom prst="roundRect">
            <a:avLst>
              <a:gd name="adj" fmla="val 12000"/>
            </a:avLst>
          </a:prstGeom>
          <a:solidFill>
            <a:srgbClr val="E7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8" y="327355"/>
            <a:ext cx="2414015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50" b="1">
                <a:solidFill>
                  <a:srgbClr val="2369DC"/>
                </a:solidFill>
                <a:latin typeface="Noto Sans"/>
              </a:defRPr>
            </a:pPr>
            <a:r>
              <a:t>MTLS / ENROLLMENT — ДАЛЕЕ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7620">
            <a:solidFill>
              <a:srgbClr val="DCE4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6537960"/>
            <a:ext cx="7223760" cy="19202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60768A"/>
                </a:solidFill>
                <a:latin typeface="Noto Sans"/>
              </a:defRPr>
            </a:pPr>
            <a:r>
              <a:t>AHWOTel  ·  прототип → управляемый пилот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537960"/>
            <a:ext cx="1325880" cy="19202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60768A"/>
                </a:solidFill>
                <a:latin typeface="Noto Sans"/>
              </a:defRPr>
            </a:pPr>
            <a:r>
              <a:t>14.09.2026</a:t>
            </a:r>
          </a:p>
        </p:txBody>
      </p:sp>
      <p:sp>
        <p:nvSpPr>
          <p:cNvPr id="11" name="Oval 10"/>
          <p:cNvSpPr/>
          <p:nvPr/>
        </p:nvSpPr>
        <p:spPr>
          <a:xfrm>
            <a:off x="11292840" y="6510528"/>
            <a:ext cx="256032" cy="256032"/>
          </a:xfrm>
          <a:prstGeom prst="ellipse">
            <a:avLst/>
          </a:prstGeom>
          <a:solidFill>
            <a:srgbClr val="10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Noto Sans"/>
              </a:defRPr>
            </a:pPr>
            <a:r>
              <a:t>06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03120"/>
            <a:ext cx="3602736" cy="21396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350008"/>
            <a:ext cx="393192" cy="393192"/>
          </a:xfrm>
          <a:prstGeom prst="ellipse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368296"/>
            <a:ext cx="2615184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102B46"/>
                </a:solidFill>
                <a:latin typeface="Noto Sans"/>
              </a:defRPr>
            </a:pPr>
            <a:r>
              <a:t>HTTPS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163824"/>
            <a:ext cx="3154680" cy="7223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60768A"/>
                </a:solidFill>
                <a:latin typeface="Noto Sans"/>
              </a:defRPr>
            </a:pPr>
            <a:r>
              <a:t>Защита канала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60768A"/>
                </a:solidFill>
                <a:latin typeface="Noto Sans"/>
              </a:defRPr>
            </a:pPr>
            <a:r>
              <a:t>и проверка сервера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103120"/>
            <a:ext cx="3602736" cy="21396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07992" y="2350008"/>
            <a:ext cx="393192" cy="393192"/>
          </a:xfrm>
          <a:prstGeom prst="ellipse">
            <a:avLst/>
          </a:prstGeom>
          <a:solidFill>
            <a:srgbClr val="00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2368296"/>
            <a:ext cx="2615184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102B46"/>
                </a:solidFill>
                <a:latin typeface="Noto Sans"/>
              </a:defRPr>
            </a:pPr>
            <a:r>
              <a:t>mTLS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136" y="3163824"/>
            <a:ext cx="3154680" cy="7223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60768A"/>
                </a:solidFill>
                <a:latin typeface="Noto Sans"/>
              </a:defRPr>
            </a:pPr>
            <a:r>
              <a:t>Сертификат каждого устройства;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60768A"/>
                </a:solidFill>
                <a:latin typeface="Noto Sans"/>
              </a:defRPr>
            </a:pPr>
            <a:r>
              <a:t>ключ в Android Keystore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2103120"/>
            <a:ext cx="3602736" cy="21396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02752" y="2350008"/>
            <a:ext cx="393192" cy="393192"/>
          </a:xfrm>
          <a:prstGeom prst="ellipse">
            <a:avLst/>
          </a:prstGeom>
          <a:solidFill>
            <a:srgbClr val="00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1392" y="2368296"/>
            <a:ext cx="2615184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102B46"/>
                </a:solidFill>
                <a:latin typeface="Noto Sans"/>
              </a:defRPr>
            </a:pPr>
            <a:r>
              <a:t>Авторизация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3163824"/>
            <a:ext cx="3154680" cy="7223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60768A"/>
                </a:solidFill>
                <a:latin typeface="Noto Sans"/>
              </a:defRPr>
            </a:pPr>
            <a:r>
              <a:t>Identity сертификата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60768A"/>
                </a:solidFill>
                <a:latin typeface="Noto Sans"/>
              </a:defRPr>
            </a:pPr>
            <a:r>
              <a:t>соответствует device.id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544568"/>
            <a:ext cx="6400800" cy="2651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60768A"/>
                </a:solidFill>
                <a:latin typeface="Noto Sans"/>
              </a:defRPr>
            </a:pPr>
            <a:r>
              <a:t>ЖИЗНЕННЫЙ ЦИКЛ ДОСТУПА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983480"/>
            <a:ext cx="2441448" cy="283464"/>
          </a:xfrm>
          <a:prstGeom prst="roundRect">
            <a:avLst>
              <a:gd name="adj" fmla="val 12000"/>
            </a:avLst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5009083"/>
            <a:ext cx="2313432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50" b="1">
                <a:solidFill>
                  <a:srgbClr val="008F95"/>
                </a:solidFill>
                <a:latin typeface="Noto Sans"/>
              </a:defRPr>
            </a:pPr>
            <a:r>
              <a:t>Регистрация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054096" y="5029200"/>
            <a:ext cx="219456" cy="182880"/>
          </a:xfrm>
          <a:prstGeom prst="rightArrow">
            <a:avLst/>
          </a:prstGeom>
          <a:solidFill>
            <a:srgbClr val="00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83280" y="4983480"/>
            <a:ext cx="2441448" cy="283464"/>
          </a:xfrm>
          <a:prstGeom prst="roundRect">
            <a:avLst>
              <a:gd name="adj" fmla="val 12000"/>
            </a:avLst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47288" y="5009083"/>
            <a:ext cx="2313432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50" b="1">
                <a:solidFill>
                  <a:srgbClr val="008F95"/>
                </a:solidFill>
                <a:latin typeface="Noto Sans"/>
              </a:defRPr>
            </a:pPr>
            <a:r>
              <a:t>Выдача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934456" y="5029200"/>
            <a:ext cx="219456" cy="182880"/>
          </a:xfrm>
          <a:prstGeom prst="rightArrow">
            <a:avLst/>
          </a:prstGeom>
          <a:solidFill>
            <a:srgbClr val="00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63640" y="4983480"/>
            <a:ext cx="2441448" cy="283464"/>
          </a:xfrm>
          <a:prstGeom prst="roundRect">
            <a:avLst>
              <a:gd name="adj" fmla="val 12000"/>
            </a:avLst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5009083"/>
            <a:ext cx="2313432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50" b="1">
                <a:solidFill>
                  <a:srgbClr val="008F95"/>
                </a:solidFill>
                <a:latin typeface="Noto Sans"/>
              </a:defRPr>
            </a:pPr>
            <a:r>
              <a:t>Обновление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814816" y="5029200"/>
            <a:ext cx="219456" cy="182880"/>
          </a:xfrm>
          <a:prstGeom prst="rightArrow">
            <a:avLst/>
          </a:prstGeom>
          <a:solidFill>
            <a:srgbClr val="00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44000" y="4983480"/>
            <a:ext cx="2441448" cy="283464"/>
          </a:xfrm>
          <a:prstGeom prst="roundRect">
            <a:avLst>
              <a:gd name="adj" fmla="val 12000"/>
            </a:avLst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08008" y="5009083"/>
            <a:ext cx="2313432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50" b="1">
                <a:solidFill>
                  <a:srgbClr val="008F95"/>
                </a:solidFill>
                <a:latin typeface="Noto Sans"/>
              </a:defRPr>
            </a:pPr>
            <a:r>
              <a:t>Отзыв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577840"/>
            <a:ext cx="11183112" cy="630936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760720"/>
            <a:ext cx="10725912" cy="2651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20" b="1">
                <a:solidFill>
                  <a:srgbClr val="FFFFFF"/>
                </a:solidFill>
                <a:latin typeface="Noto Sans"/>
              </a:defRPr>
            </a:pPr>
            <a:r>
              <a:t>Сейчас: HTTPS. Цель: индивидуальный доступ. Альтернатива mTLS: короткоживущий JWT.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292608" cy="50292"/>
          </a:xfrm>
          <a:prstGeom prst="rect">
            <a:avLst/>
          </a:prstGeom>
          <a:solidFill>
            <a:srgbClr val="00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20040"/>
            <a:ext cx="8503920" cy="2651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60768A"/>
                </a:solidFill>
                <a:latin typeface="Noto Sans"/>
              </a:defRPr>
            </a:pPr>
            <a:r>
              <a:t>AHWOTel  /  VIBE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6583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102B46"/>
                </a:solidFill>
                <a:latin typeface="Noto Sans"/>
              </a:defRPr>
            </a:pPr>
            <a:r>
              <a:t>От обсуждения до работающего APK за выходные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463040"/>
            <a:ext cx="10972800" cy="4297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60768A"/>
                </a:solidFill>
                <a:latin typeface="Noto Sans"/>
              </a:defRPr>
            </a:pPr>
            <a:r>
              <a:t>11–13 сентября 2026. Хронология автора, три коммита Git и отдельные испытания на Samsung.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7620">
            <a:solidFill>
              <a:srgbClr val="DCE4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7223760" cy="19202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60768A"/>
                </a:solidFill>
                <a:latin typeface="Noto Sans"/>
              </a:defRPr>
            </a:pPr>
            <a:r>
              <a:t>AHWOTel  ·  прототип → управляемый пилот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37960"/>
            <a:ext cx="1325880" cy="19202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60768A"/>
                </a:solidFill>
                <a:latin typeface="Noto Sans"/>
              </a:defRPr>
            </a:pPr>
            <a:r>
              <a:t>14.09.2026</a:t>
            </a:r>
          </a:p>
        </p:txBody>
      </p:sp>
      <p:sp>
        <p:nvSpPr>
          <p:cNvPr id="9" name="Oval 8"/>
          <p:cNvSpPr/>
          <p:nvPr/>
        </p:nvSpPr>
        <p:spPr>
          <a:xfrm>
            <a:off x="11292840" y="6510528"/>
            <a:ext cx="256032" cy="256032"/>
          </a:xfrm>
          <a:prstGeom prst="ellipse">
            <a:avLst/>
          </a:prstGeom>
          <a:solidFill>
            <a:srgbClr val="10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Noto Sans"/>
              </a:defRPr>
            </a:pPr>
            <a: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20824"/>
            <a:ext cx="5477256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76272"/>
            <a:ext cx="1408176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008F95"/>
                </a:solidFill>
                <a:latin typeface="Noto Sans"/>
              </a:defRPr>
            </a:pPr>
            <a:r>
              <a:t>ПТ · 11 СЕН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2157984"/>
            <a:ext cx="3511296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60768A"/>
                </a:solidFill>
                <a:latin typeface="Noto Sans"/>
              </a:defRPr>
            </a:pPr>
            <a:r>
              <a:t>Консультации: актуальность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60768A"/>
                </a:solidFill>
                <a:latin typeface="Noto Sans"/>
              </a:defRPr>
            </a:pPr>
            <a:r>
              <a:t>и варианты приёма данных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2020824"/>
            <a:ext cx="5477256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2176272"/>
            <a:ext cx="1408176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008F95"/>
                </a:solidFill>
                <a:latin typeface="Noto Sans"/>
              </a:defRPr>
            </a:pPr>
            <a:r>
              <a:t>СБ · 12 СЕН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18704" y="2157984"/>
            <a:ext cx="3511296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60768A"/>
                </a:solidFill>
                <a:latin typeface="Noto Sans"/>
              </a:defRPr>
            </a:pPr>
            <a:r>
              <a:t>Обдумывание идеи: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60768A"/>
                </a:solidFill>
                <a:latin typeface="Noto Sans"/>
              </a:defRPr>
            </a:pPr>
            <a:r>
              <a:t>«делать или не делать?»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7824" y="3392424"/>
            <a:ext cx="10268712" cy="0"/>
          </a:xfrm>
          <a:prstGeom prst="line">
            <a:avLst/>
          </a:prstGeom>
          <a:ln w="38100">
            <a:solidFill>
              <a:srgbClr val="DCE4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76656" y="3191256"/>
            <a:ext cx="393192" cy="393192"/>
          </a:xfrm>
          <a:prstGeom prst="ellipse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3703320"/>
            <a:ext cx="2606040" cy="4297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600" b="1">
                <a:solidFill>
                  <a:srgbClr val="102B46"/>
                </a:solidFill>
                <a:latin typeface="Noto Sans"/>
              </a:defRPr>
            </a:pPr>
            <a:r>
              <a:t>07:30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" y="4288536"/>
            <a:ext cx="2624328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50" b="1">
                <a:solidFill>
                  <a:srgbClr val="223D56"/>
                </a:solidFill>
                <a:latin typeface="Noto Sans"/>
              </a:defRPr>
            </a:pPr>
            <a:r>
              <a:t>Три блока ТЗ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" y="4809744"/>
            <a:ext cx="2596896" cy="63093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30" b="0">
                <a:solidFill>
                  <a:srgbClr val="60768A"/>
                </a:solidFill>
                <a:latin typeface="Noto Sans"/>
              </a:defRPr>
            </a:pPr>
            <a:r>
              <a:t>Ресурсы · OEM/Knox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30" b="0">
                <a:solidFill>
                  <a:srgbClr val="60768A"/>
                </a:solidFill>
                <a:latin typeface="Noto Sans"/>
              </a:defRPr>
            </a:pPr>
            <a:r>
              <a:t>Self Telemetry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8" y="5577840"/>
            <a:ext cx="2651760" cy="283464"/>
          </a:xfrm>
          <a:prstGeom prst="roundRect">
            <a:avLst>
              <a:gd name="adj" fmla="val 12000"/>
            </a:avLst>
          </a:prstGeom>
          <a:solidFill>
            <a:srgbClr val="E7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" y="5603443"/>
            <a:ext cx="252374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50" b="1">
                <a:solidFill>
                  <a:srgbClr val="2369DC"/>
                </a:solidFill>
                <a:latin typeface="Noto Sans"/>
              </a:defRPr>
            </a:pPr>
            <a:r>
              <a:t>9bfecfb · LICENSE</a:t>
            </a:r>
          </a:p>
        </p:txBody>
      </p:sp>
      <p:sp>
        <p:nvSpPr>
          <p:cNvPr id="23" name="Oval 22"/>
          <p:cNvSpPr/>
          <p:nvPr/>
        </p:nvSpPr>
        <p:spPr>
          <a:xfrm>
            <a:off x="3529584" y="3191256"/>
            <a:ext cx="393192" cy="393192"/>
          </a:xfrm>
          <a:prstGeom prst="ellipse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0712" y="3703320"/>
            <a:ext cx="2606040" cy="4297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600" b="1">
                <a:solidFill>
                  <a:srgbClr val="102B46"/>
                </a:solidFill>
                <a:latin typeface="Noto Sans"/>
              </a:defRPr>
            </a:pPr>
            <a:r>
              <a:t>14:01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0712" y="4288536"/>
            <a:ext cx="2624328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50" b="1">
                <a:solidFill>
                  <a:srgbClr val="223D56"/>
                </a:solidFill>
                <a:latin typeface="Noto Sans"/>
              </a:defRPr>
            </a:pPr>
            <a:r>
              <a:t>Автономный MVP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10712" y="4809744"/>
            <a:ext cx="2596896" cy="63093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30" b="0">
                <a:solidFill>
                  <a:srgbClr val="60768A"/>
                </a:solidFill>
                <a:latin typeface="Noto Sans"/>
              </a:defRPr>
            </a:pPr>
            <a:r>
              <a:t>Метрики · история · графики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30" b="0">
                <a:solidFill>
                  <a:srgbClr val="60768A"/>
                </a:solidFill>
                <a:latin typeface="Noto Sans"/>
              </a:defRPr>
            </a:pPr>
            <a:r>
              <a:t>Подсказки EN/RU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74136" y="5577840"/>
            <a:ext cx="2651760" cy="283464"/>
          </a:xfrm>
          <a:prstGeom prst="roundRect">
            <a:avLst>
              <a:gd name="adj" fmla="val 12000"/>
            </a:avLst>
          </a:prstGeom>
          <a:solidFill>
            <a:srgbClr val="E7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38144" y="5603443"/>
            <a:ext cx="252374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50" b="1">
                <a:solidFill>
                  <a:srgbClr val="2369DC"/>
                </a:solidFill>
                <a:latin typeface="Noto Sans"/>
              </a:defRPr>
            </a:pPr>
            <a:r>
              <a:t>5a8710d</a:t>
            </a:r>
          </a:p>
        </p:txBody>
      </p:sp>
      <p:sp>
        <p:nvSpPr>
          <p:cNvPr id="29" name="Oval 28"/>
          <p:cNvSpPr/>
          <p:nvPr/>
        </p:nvSpPr>
        <p:spPr>
          <a:xfrm>
            <a:off x="6382512" y="3191256"/>
            <a:ext cx="393192" cy="393192"/>
          </a:xfrm>
          <a:prstGeom prst="ellipse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703320"/>
            <a:ext cx="2606040" cy="4297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600" b="1">
                <a:solidFill>
                  <a:srgbClr val="102B46"/>
                </a:solidFill>
                <a:latin typeface="Noto Sans"/>
              </a:defRPr>
            </a:pPr>
            <a:r>
              <a:t>20:42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288536"/>
            <a:ext cx="2624328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50" b="1">
                <a:solidFill>
                  <a:srgbClr val="223D56"/>
                </a:solidFill>
                <a:latin typeface="Noto Sans"/>
              </a:defRPr>
            </a:pPr>
            <a:r>
              <a:t>OEM + Battery/Self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809744"/>
            <a:ext cx="2596896" cy="63093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30" b="0">
                <a:solidFill>
                  <a:srgbClr val="60768A"/>
                </a:solidFill>
                <a:latin typeface="Noto Sans"/>
              </a:defRPr>
            </a:pPr>
            <a:r>
              <a:t>Новые настройки и оси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30" b="0">
                <a:solidFill>
                  <a:srgbClr val="60768A"/>
                </a:solidFill>
                <a:latin typeface="Noto Sans"/>
              </a:defRPr>
            </a:pPr>
            <a:r>
              <a:t>Исправления по review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27064" y="5577840"/>
            <a:ext cx="2651760" cy="283464"/>
          </a:xfrm>
          <a:prstGeom prst="roundRect">
            <a:avLst>
              <a:gd name="adj" fmla="val 12000"/>
            </a:avLst>
          </a:prstGeom>
          <a:solidFill>
            <a:srgbClr val="E7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1072" y="5603443"/>
            <a:ext cx="252374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50" b="1">
                <a:solidFill>
                  <a:srgbClr val="2369DC"/>
                </a:solidFill>
                <a:latin typeface="Noto Sans"/>
              </a:defRPr>
            </a:pPr>
            <a:r>
              <a:t>beaf486</a:t>
            </a:r>
          </a:p>
        </p:txBody>
      </p:sp>
      <p:sp>
        <p:nvSpPr>
          <p:cNvPr id="35" name="Oval 34"/>
          <p:cNvSpPr/>
          <p:nvPr/>
        </p:nvSpPr>
        <p:spPr>
          <a:xfrm>
            <a:off x="9235440" y="3191256"/>
            <a:ext cx="393192" cy="393192"/>
          </a:xfrm>
          <a:prstGeom prst="ellipse">
            <a:avLst/>
          </a:prstGeom>
          <a:solidFill>
            <a:srgbClr val="00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16568" y="3703320"/>
            <a:ext cx="2606040" cy="4297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102B46"/>
                </a:solidFill>
                <a:latin typeface="Noto Sans"/>
              </a:defRPr>
            </a:pPr>
            <a:r>
              <a:t>ВЕЧЕР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16568" y="4288536"/>
            <a:ext cx="2624328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50" b="1">
                <a:solidFill>
                  <a:srgbClr val="223D56"/>
                </a:solidFill>
                <a:latin typeface="Noto Sans"/>
              </a:defRPr>
            </a:pPr>
            <a:r>
              <a:t>Испытания Samsung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16568" y="4809744"/>
            <a:ext cx="2596896" cy="63093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30" b="0">
                <a:solidFill>
                  <a:srgbClr val="60768A"/>
                </a:solidFill>
                <a:latin typeface="Noto Sans"/>
              </a:defRPr>
            </a:pPr>
            <a:r>
              <a:t>Установка и новый сбор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30" b="0">
                <a:solidFill>
                  <a:srgbClr val="60768A"/>
                </a:solidFill>
                <a:latin typeface="Noto Sans"/>
              </a:defRPr>
            </a:pPr>
            <a:r>
              <a:t>20 native-сценариев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79992" y="5577840"/>
            <a:ext cx="2651760" cy="283464"/>
          </a:xfrm>
          <a:prstGeom prst="roundRect">
            <a:avLst>
              <a:gd name="adj" fmla="val 12000"/>
            </a:avLst>
          </a:prstGeom>
          <a:solidFill>
            <a:srgbClr val="E7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0" y="5603443"/>
            <a:ext cx="252374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50" b="1">
                <a:solidFill>
                  <a:srgbClr val="2369DC"/>
                </a:solidFill>
                <a:latin typeface="Noto Sans"/>
              </a:defRPr>
            </a:pPr>
            <a:r>
              <a:t>После последнего коммита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496" y="6099048"/>
            <a:ext cx="11091672" cy="2377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0768A"/>
                </a:solidFill>
                <a:latin typeface="Noto Sans"/>
              </a:defRPr>
            </a:pPr>
            <a:r>
              <a:t>Москва, UTC+03:00. Подготовка ТЗ — со слов автора; Git фиксирует время коммитов, а не длительность работы.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292608" cy="50292"/>
          </a:xfrm>
          <a:prstGeom prst="rect">
            <a:avLst/>
          </a:prstGeom>
          <a:solidFill>
            <a:srgbClr val="00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20040"/>
            <a:ext cx="8503920" cy="2651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60768A"/>
                </a:solidFill>
                <a:latin typeface="Noto Sans"/>
              </a:defRPr>
            </a:pPr>
            <a:r>
              <a:t>AHWOTel  /  СЛЕДУЮЩИЕ ШАГИ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6583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102B46"/>
                </a:solidFill>
                <a:latin typeface="Noto Sans"/>
              </a:defRPr>
            </a:pPr>
            <a:r>
              <a:t>Управляемый пилот с общей витриной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463040"/>
            <a:ext cx="10972800" cy="4297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60768A"/>
                </a:solidFill>
                <a:latin typeface="Noto Sans"/>
              </a:defRPr>
            </a:pPr>
            <a:r>
              <a:t>Проверяем весь путь: команда SOTI → измерения → защищённый приём → графики.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301752"/>
            <a:ext cx="2542032" cy="283464"/>
          </a:xfrm>
          <a:prstGeom prst="roundRect">
            <a:avLst>
              <a:gd name="adj" fmla="val 12000"/>
            </a:avLst>
          </a:prstGeom>
          <a:solidFill>
            <a:srgbClr val="E7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8" y="327355"/>
            <a:ext cx="2414015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50" b="1">
                <a:solidFill>
                  <a:srgbClr val="2369DC"/>
                </a:solidFill>
                <a:latin typeface="Noto Sans"/>
              </a:defRPr>
            </a:pPr>
            <a:r>
              <a:t>НУЖНО СОГЛАСОВАТЬ ПИЛОТ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7620">
            <a:solidFill>
              <a:srgbClr val="DCE4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6537960"/>
            <a:ext cx="7223760" cy="19202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60768A"/>
                </a:solidFill>
                <a:latin typeface="Noto Sans"/>
              </a:defRPr>
            </a:pPr>
            <a:r>
              <a:t>AHWOTel  ·  прототип → управляемый пилот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537960"/>
            <a:ext cx="1325880" cy="19202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60768A"/>
                </a:solidFill>
                <a:latin typeface="Noto Sans"/>
              </a:defRPr>
            </a:pPr>
            <a:r>
              <a:t>14.09.2026</a:t>
            </a:r>
          </a:p>
        </p:txBody>
      </p:sp>
      <p:sp>
        <p:nvSpPr>
          <p:cNvPr id="11" name="Oval 10"/>
          <p:cNvSpPr/>
          <p:nvPr/>
        </p:nvSpPr>
        <p:spPr>
          <a:xfrm>
            <a:off x="11292840" y="6510528"/>
            <a:ext cx="256032" cy="256032"/>
          </a:xfrm>
          <a:prstGeom prst="ellipse">
            <a:avLst/>
          </a:prstGeom>
          <a:solidFill>
            <a:srgbClr val="10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Noto Sans"/>
              </a:defRPr>
            </a:pPr>
            <a:r>
              <a:t>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67128"/>
            <a:ext cx="2624328" cy="3072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2386584"/>
            <a:ext cx="393192" cy="393192"/>
          </a:xfrm>
          <a:prstGeom prst="ellipse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71800"/>
            <a:ext cx="2240280" cy="7498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02B46"/>
                </a:solidFill>
                <a:latin typeface="Noto Sans"/>
              </a:defRPr>
            </a:pPr>
            <a:r>
              <a:t>Методика и доступы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995928"/>
            <a:ext cx="2249424" cy="10241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10" b="0">
                <a:solidFill>
                  <a:srgbClr val="60768A"/>
                </a:solidFill>
                <a:latin typeface="Noto Sans"/>
              </a:defRPr>
            </a:pPr>
            <a:r>
              <a:t>Бизнес-критерии и календарь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10" b="0">
                <a:solidFill>
                  <a:srgbClr val="60768A"/>
                </a:solidFill>
                <a:latin typeface="Noto Sans"/>
              </a:defRPr>
            </a:pPr>
            <a:r>
              <a:t>Knox Developer и лицензии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10" b="0">
                <a:solidFill>
                  <a:srgbClr val="60768A"/>
                </a:solidFill>
                <a:latin typeface="Noto Sans"/>
              </a:defRPr>
            </a:pPr>
            <a:r>
              <a:t>Google developer: по маршруту поставки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163824" y="3346704"/>
            <a:ext cx="146304" cy="182880"/>
          </a:xfrm>
          <a:prstGeom prst="rightArrow">
            <a:avLst/>
          </a:prstGeom>
          <a:solidFill>
            <a:srgbClr val="60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55848" y="2167128"/>
            <a:ext cx="2624328" cy="3072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38728" y="2386584"/>
            <a:ext cx="393192" cy="393192"/>
          </a:xfrm>
          <a:prstGeom prst="ellipse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8728" y="2971800"/>
            <a:ext cx="2240280" cy="7498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02B46"/>
                </a:solidFill>
                <a:latin typeface="Noto Sans"/>
              </a:defRPr>
            </a:pPr>
            <a:r>
              <a:t>Устройство под SOTI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8728" y="3995928"/>
            <a:ext cx="2249424" cy="10241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10" b="0">
                <a:solidFill>
                  <a:srgbClr val="60768A"/>
                </a:solidFill>
                <a:latin typeface="Noto Sans"/>
              </a:defRPr>
            </a:pPr>
            <a:r>
              <a:t>Поддерживаемый Samsung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10" b="0">
                <a:solidFill>
                  <a:srgbClr val="60768A"/>
                </a:solidFill>
                <a:latin typeface="Noto Sans"/>
              </a:defRPr>
            </a:pPr>
            <a:r>
              <a:t>Установка и START/STOP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10" b="0">
                <a:solidFill>
                  <a:srgbClr val="60768A"/>
                </a:solidFill>
                <a:latin typeface="Noto Sans"/>
              </a:defRPr>
            </a:pPr>
            <a:r>
              <a:t>Проверка прав самого APK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016752" y="3346704"/>
            <a:ext cx="146304" cy="182880"/>
          </a:xfrm>
          <a:prstGeom prst="rightArrow">
            <a:avLst/>
          </a:prstGeom>
          <a:solidFill>
            <a:srgbClr val="60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08776" y="2167128"/>
            <a:ext cx="2624328" cy="3072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91656" y="2386584"/>
            <a:ext cx="393192" cy="393192"/>
          </a:xfrm>
          <a:prstGeom prst="ellipse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971800"/>
            <a:ext cx="2240280" cy="7498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02B46"/>
                </a:solidFill>
                <a:latin typeface="Noto Sans"/>
              </a:defRPr>
            </a:pPr>
            <a:r>
              <a:t>Стенд и витрина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3995928"/>
            <a:ext cx="2249424" cy="10241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10" b="0">
                <a:solidFill>
                  <a:srgbClr val="60768A"/>
                </a:solidFill>
                <a:latin typeface="Noto Sans"/>
              </a:defRPr>
            </a:pPr>
            <a:r>
              <a:t>Защищённый ingest и PKI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10" b="0">
                <a:solidFill>
                  <a:srgbClr val="60768A"/>
                </a:solidFill>
                <a:latin typeface="Noto Sans"/>
              </a:defRPr>
            </a:pPr>
            <a:r>
              <a:t>OTel Collector + Prometheus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10" b="0">
                <a:solidFill>
                  <a:srgbClr val="60768A"/>
                </a:solidFill>
                <a:latin typeface="Noto Sans"/>
              </a:defRPr>
            </a:pPr>
            <a:r>
              <a:t>Grafana: ресурсы и стоимость агента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69680" y="3346704"/>
            <a:ext cx="146304" cy="182880"/>
          </a:xfrm>
          <a:prstGeom prst="rightArrow">
            <a:avLst/>
          </a:prstGeom>
          <a:solidFill>
            <a:srgbClr val="60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61704" y="2167128"/>
            <a:ext cx="2624328" cy="3072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244584" y="2386584"/>
            <a:ext cx="393192" cy="393192"/>
          </a:xfrm>
          <a:prstGeom prst="ellipse">
            <a:avLst/>
          </a:prstGeom>
          <a:solidFill>
            <a:srgbClr val="00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4584" y="2971800"/>
            <a:ext cx="2240280" cy="7498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02B46"/>
                </a:solidFill>
                <a:latin typeface="Noto Sans"/>
              </a:defRPr>
            </a:pPr>
            <a:r>
              <a:t>Приёмка пилота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584" y="3995928"/>
            <a:ext cx="2249424" cy="10241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10" b="0">
                <a:solidFill>
                  <a:srgbClr val="60768A"/>
                </a:solidFill>
                <a:latin typeface="Noto Sans"/>
              </a:defRPr>
            </a:pPr>
            <a:r>
              <a:t>Offline/reconnect и timeout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10" b="0">
                <a:solidFill>
                  <a:srgbClr val="60768A"/>
                </a:solidFill>
                <a:latin typeface="Noto Sans"/>
              </a:defRPr>
            </a:pPr>
            <a:r>
              <a:t>Screen-off и нагрузка агента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10" b="0">
                <a:solidFill>
                  <a:srgbClr val="60768A"/>
                </a:solidFill>
                <a:latin typeface="Noto Sans"/>
              </a:defRPr>
            </a:pPr>
            <a:r>
              <a:t>Время, retention и восстановление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559552"/>
            <a:ext cx="11183112" cy="685800"/>
          </a:xfrm>
          <a:prstGeom prst="roundRect">
            <a:avLst>
              <a:gd name="adj" fmla="val 12000"/>
            </a:avLst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" y="5769864"/>
            <a:ext cx="10716768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008F95"/>
                </a:solidFill>
                <a:latin typeface="Noto Sans"/>
              </a:defRPr>
            </a:pPr>
            <a:r>
              <a:t>Нужны: устройство и SOTI  ·  владелец стенда / PKI  ·  бизнес-эксперт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292608" cy="50292"/>
          </a:xfrm>
          <a:prstGeom prst="rect">
            <a:avLst/>
          </a:prstGeom>
          <a:solidFill>
            <a:srgbClr val="00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20040"/>
            <a:ext cx="8503920" cy="2651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60768A"/>
                </a:solidFill>
                <a:latin typeface="Noto Sans"/>
              </a:defRPr>
            </a:pPr>
            <a:r>
              <a:t>AHWOTel  /  ЗАТРАТЫ ПРОТОТИПА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6583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102B46"/>
                </a:solidFill>
                <a:latin typeface="Noto Sans"/>
              </a:defRPr>
            </a:pPr>
            <a:r>
              <a:t>Вычисления, решения человека и доля подписки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463040"/>
            <a:ext cx="10972800" cy="4297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60768A"/>
                </a:solidFill>
                <a:latin typeface="Noto Sans"/>
              </a:defRPr>
            </a:pPr>
            <a:r>
              <a:t>Снимок 14.09.2026, 08:17 МСК. Включает подготовку презентации до снимка; создание PPTX не включено.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7620">
            <a:solidFill>
              <a:srgbClr val="DCE4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7223760" cy="19202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60768A"/>
                </a:solidFill>
                <a:latin typeface="Noto Sans"/>
              </a:defRPr>
            </a:pPr>
            <a:r>
              <a:t>AHWOTel  ·  прототип → управляемый пилот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37960"/>
            <a:ext cx="1325880" cy="19202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60768A"/>
                </a:solidFill>
                <a:latin typeface="Noto Sans"/>
              </a:defRPr>
            </a:pPr>
            <a:r>
              <a:t>14.09.2026</a:t>
            </a:r>
          </a:p>
        </p:txBody>
      </p:sp>
      <p:sp>
        <p:nvSpPr>
          <p:cNvPr id="9" name="Oval 8"/>
          <p:cNvSpPr/>
          <p:nvPr/>
        </p:nvSpPr>
        <p:spPr>
          <a:xfrm>
            <a:off x="11292840" y="6510528"/>
            <a:ext cx="256032" cy="256032"/>
          </a:xfrm>
          <a:prstGeom prst="ellipse">
            <a:avLst/>
          </a:prstGeom>
          <a:solidFill>
            <a:srgbClr val="10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Noto Sans"/>
              </a:defRPr>
            </a:pPr>
            <a: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03120"/>
            <a:ext cx="3602736" cy="2368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2331720"/>
            <a:ext cx="3182112" cy="58521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3500" b="1">
                <a:solidFill>
                  <a:srgbClr val="2369DC"/>
                </a:solidFill>
                <a:latin typeface="Noto Sans"/>
              </a:defRPr>
            </a:pPr>
            <a:r>
              <a:t>200,4 млн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108960"/>
            <a:ext cx="3154680" cy="40233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102B46"/>
                </a:solidFill>
                <a:latin typeface="Noto Sans"/>
              </a:defRPr>
            </a:pPr>
            <a:r>
              <a:t>токенов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3712463"/>
            <a:ext cx="3136392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50" b="0">
                <a:solidFill>
                  <a:srgbClr val="60768A"/>
                </a:solidFill>
                <a:latin typeface="Noto Sans"/>
              </a:defRPr>
            </a:pPr>
            <a:r>
              <a:t>188,9 млн — основная сессия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50" b="0">
                <a:solidFill>
                  <a:srgbClr val="60768A"/>
                </a:solidFill>
                <a:latin typeface="Noto Sans"/>
              </a:defRPr>
            </a:pPr>
            <a:r>
              <a:t>11,5 млн — семь агентов 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103120"/>
            <a:ext cx="3602736" cy="2368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331720"/>
            <a:ext cx="3182112" cy="58521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3500" b="1">
                <a:solidFill>
                  <a:srgbClr val="008F95"/>
                </a:solidFill>
                <a:latin typeface="Noto Sans"/>
              </a:defRPr>
            </a:pPr>
            <a:r>
              <a:t>1–2 часа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3108960"/>
            <a:ext cx="3154680" cy="40233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102B46"/>
                </a:solidFill>
                <a:latin typeface="Noto Sans"/>
              </a:defRPr>
            </a:pPr>
            <a:r>
              <a:t>участия человека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3712463"/>
            <a:ext cx="3136392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50" b="0">
                <a:solidFill>
                  <a:srgbClr val="60768A"/>
                </a:solidFill>
                <a:latin typeface="Noto Sans"/>
              </a:defRPr>
            </a:pPr>
            <a:r>
              <a:t>ТЗ, планы/review, согласования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50" b="0">
                <a:solidFill>
                  <a:srgbClr val="60768A"/>
                </a:solidFill>
                <a:latin typeface="Noto Sans"/>
              </a:defRPr>
            </a:pPr>
            <a:r>
              <a:t>и проверки телефона — оценка автора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103120"/>
            <a:ext cx="3602736" cy="2368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2331720"/>
            <a:ext cx="3182112" cy="58521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3500" b="1">
                <a:solidFill>
                  <a:srgbClr val="2369DC"/>
                </a:solidFill>
                <a:latin typeface="Noto Sans"/>
              </a:defRPr>
            </a:pPr>
            <a:r>
              <a:t>≈ $23–25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3108960"/>
            <a:ext cx="3154680" cy="40233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102B46"/>
                </a:solidFill>
                <a:latin typeface="Noto Sans"/>
              </a:defRPr>
            </a:pPr>
            <a:r>
              <a:t>условной доли подписки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3712463"/>
            <a:ext cx="3136392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50" b="0">
                <a:solidFill>
                  <a:srgbClr val="60768A"/>
                </a:solidFill>
                <a:latin typeface="Noto Sans"/>
              </a:defRPr>
            </a:pPr>
            <a:r>
              <a:t>50% недельного лимита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50" b="0">
                <a:solidFill>
                  <a:srgbClr val="60768A"/>
                </a:solidFill>
                <a:latin typeface="Noto Sans"/>
              </a:defRPr>
            </a:pPr>
            <a:r>
              <a:t>при подписке $200 в месяц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" y="4791456"/>
            <a:ext cx="7315200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60768A"/>
                </a:solidFill>
                <a:latin typeface="Noto Sans"/>
              </a:defRPr>
            </a:pPr>
            <a:r>
              <a:t>СОСТАВ ЗАРЕГИСТРИРОВАННЫХ ТОКЕНОВ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294376"/>
            <a:ext cx="10660048" cy="210312"/>
          </a:xfrm>
          <a:prstGeom prst="rect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208688" y="5294376"/>
            <a:ext cx="348607" cy="210312"/>
          </a:xfrm>
          <a:prstGeom prst="rect">
            <a:avLst/>
          </a:prstGeom>
          <a:solidFill>
            <a:srgbClr val="00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557295" y="5294376"/>
            <a:ext cx="55584" cy="210312"/>
          </a:xfrm>
          <a:prstGeom prst="rect">
            <a:avLst/>
          </a:prstGeom>
          <a:solidFill>
            <a:srgbClr val="B77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48640" y="5705856"/>
            <a:ext cx="118872" cy="118872"/>
          </a:xfrm>
          <a:prstGeom prst="ellipse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5669280"/>
            <a:ext cx="402336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60768A"/>
                </a:solidFill>
                <a:latin typeface="Noto Sans"/>
              </a:defRPr>
            </a:pPr>
            <a:r>
              <a:t>193,1 млн · вход из кэша</a:t>
            </a:r>
          </a:p>
        </p:txBody>
      </p:sp>
      <p:sp>
        <p:nvSpPr>
          <p:cNvPr id="28" name="Oval 27"/>
          <p:cNvSpPr/>
          <p:nvPr/>
        </p:nvSpPr>
        <p:spPr>
          <a:xfrm>
            <a:off x="4800600" y="5705856"/>
            <a:ext cx="118872" cy="118872"/>
          </a:xfrm>
          <a:prstGeom prst="ellipse">
            <a:avLst/>
          </a:prstGeom>
          <a:solidFill>
            <a:srgbClr val="00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10912" y="5669280"/>
            <a:ext cx="402336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60768A"/>
                </a:solidFill>
                <a:latin typeface="Noto Sans"/>
              </a:defRPr>
            </a:pPr>
            <a:r>
              <a:t>6,31 млн · остальной вход</a:t>
            </a:r>
          </a:p>
        </p:txBody>
      </p:sp>
      <p:sp>
        <p:nvSpPr>
          <p:cNvPr id="30" name="Oval 29"/>
          <p:cNvSpPr/>
          <p:nvPr/>
        </p:nvSpPr>
        <p:spPr>
          <a:xfrm>
            <a:off x="9089136" y="5705856"/>
            <a:ext cx="118872" cy="118872"/>
          </a:xfrm>
          <a:prstGeom prst="ellipse">
            <a:avLst/>
          </a:prstGeom>
          <a:solidFill>
            <a:srgbClr val="B77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99448" y="5669280"/>
            <a:ext cx="219456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60768A"/>
                </a:solidFill>
                <a:latin typeface="Noto Sans"/>
              </a:defRPr>
            </a:pPr>
            <a:r>
              <a:t>1,01 млн · выход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" y="6108192"/>
            <a:ext cx="1106424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40" b="0">
                <a:solidFill>
                  <a:srgbClr val="60768A"/>
                </a:solidFill>
                <a:latin typeface="Noto Sans"/>
              </a:defRPr>
            </a:pPr>
            <a:r>
              <a:t>96,8% входа — кэш. Деньги — распределение фиксированной платы, не отдельное списание и не API-счёт.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AHWOTel — мониторинг Android: прототип и пилот</dc:title>
  <dc:subject>Производительность, OEM/Knox, Self Telemetry, OpenTelemetry и затраты</dc:subject>
  <dc:creator>AHWOTel project</dc:creator>
  <cp:keywords>AHWOTel, Android, Knox, OpenTelemetry, SOTI</cp:keywords>
  <dc:description>Prepared from project specifications and validation reports. Snapshot: 2026-09-14.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